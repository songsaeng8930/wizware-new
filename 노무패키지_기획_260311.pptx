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0" r:id="rId4"/>
    <p:sldId id="292" r:id="rId5"/>
    <p:sldId id="281" r:id="rId6"/>
    <p:sldId id="282" r:id="rId7"/>
    <p:sldId id="283" r:id="rId8"/>
    <p:sldId id="284" r:id="rId9"/>
    <p:sldId id="279" r:id="rId10"/>
    <p:sldId id="288" r:id="rId11"/>
    <p:sldId id="289" r:id="rId12"/>
    <p:sldId id="291" r:id="rId13"/>
    <p:sldId id="293" r:id="rId14"/>
    <p:sldId id="290" r:id="rId15"/>
    <p:sldId id="285" r:id="rId16"/>
    <p:sldId id="294" r:id="rId17"/>
    <p:sldId id="295" r:id="rId18"/>
    <p:sldId id="287" r:id="rId19"/>
    <p:sldId id="276" r:id="rId20"/>
    <p:sldId id="258" r:id="rId21"/>
    <p:sldId id="296" r:id="rId22"/>
    <p:sldId id="297" r:id="rId23"/>
    <p:sldId id="268" r:id="rId24"/>
    <p:sldId id="298" r:id="rId25"/>
    <p:sldId id="299" r:id="rId26"/>
    <p:sldId id="275" r:id="rId27"/>
    <p:sldId id="300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90000"/>
  </p:normalViewPr>
  <p:slideViewPr>
    <p:cSldViewPr snapToGrid="0" snapToObjects="1">
      <p:cViewPr varScale="1">
        <p:scale>
          <a:sx n="96" d="100"/>
          <a:sy n="96" d="100"/>
        </p:scale>
        <p:origin x="1206" y="78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 lvl="0"/>
              <a:t>2026-03-12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6215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365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452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929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484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546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895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105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829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048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6730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303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219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노무패키지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10220560" y="376451"/>
            <a:ext cx="719855" cy="39316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chemeClr val="lt1"/>
                </a:solidFill>
              </a:rPr>
              <a:t>변경</a:t>
            </a:r>
          </a:p>
        </p:txBody>
      </p:sp>
      <p:sp>
        <p:nvSpPr>
          <p:cNvPr id="5" name="가로 글상자 4"/>
          <p:cNvSpPr txBox="1"/>
          <p:nvPr/>
        </p:nvSpPr>
        <p:spPr>
          <a:xfrm>
            <a:off x="10220560" y="894666"/>
            <a:ext cx="719855" cy="393169"/>
          </a:xfrm>
          <a:prstGeom prst="rect">
            <a:avLst/>
          </a:prstGeom>
          <a:solidFill>
            <a:srgbClr val="3057B9"/>
          </a:solidFill>
          <a:ln w="28575"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chemeClr val="lt1"/>
                </a:solidFill>
              </a:rPr>
              <a:t>추가</a:t>
            </a:r>
          </a:p>
        </p:txBody>
      </p:sp>
      <p:sp>
        <p:nvSpPr>
          <p:cNvPr id="7" name="가로 글상자 6"/>
          <p:cNvSpPr txBox="1"/>
          <p:nvPr/>
        </p:nvSpPr>
        <p:spPr>
          <a:xfrm>
            <a:off x="10220561" y="1512545"/>
            <a:ext cx="719853" cy="393169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chemeClr val="tx1"/>
                </a:solidFill>
              </a:rPr>
              <a:t>클릭</a:t>
            </a:r>
            <a:endParaRPr lang="ko-KR" altLang="en-US" sz="2000" b="1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178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81980"/>
            <a:ext cx="12192000" cy="649403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942906" y="0"/>
            <a:ext cx="2905467" cy="44815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KPI</a:t>
            </a:r>
          </a:p>
          <a:p>
            <a:pPr lvl="0" algn="ctr">
              <a:defRPr/>
            </a:pPr>
            <a:r>
              <a:rPr lang="en-US" altLang="ko-KR"/>
              <a:t>(</a:t>
            </a:r>
            <a:r>
              <a:rPr lang="ko-KR" altLang="en-US"/>
              <a:t>매출</a:t>
            </a:r>
            <a:r>
              <a:rPr lang="en-US" altLang="ko-KR"/>
              <a:t>,</a:t>
            </a:r>
            <a:r>
              <a:rPr lang="ko-KR" altLang="en-US"/>
              <a:t> 미결재문서</a:t>
            </a:r>
            <a:r>
              <a:rPr lang="en-US" altLang="ko-KR"/>
              <a:t>,</a:t>
            </a:r>
            <a:r>
              <a:rPr lang="ko-KR" altLang="en-US"/>
              <a:t> 근태 등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350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07234"/>
            <a:ext cx="12192000" cy="604353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1773831"/>
            <a:ext cx="1130239" cy="182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9758115" y="735366"/>
            <a:ext cx="724271" cy="240491"/>
          </a:xfrm>
          <a:prstGeom prst="rect">
            <a:avLst/>
          </a:prstGeom>
          <a:solidFill>
            <a:srgbClr val="3057B9"/>
          </a:solidFill>
          <a:ln w="28575"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다운로드</a:t>
            </a:r>
          </a:p>
        </p:txBody>
      </p:sp>
      <p:sp>
        <p:nvSpPr>
          <p:cNvPr id="13" name="가로 글상자 12"/>
          <p:cNvSpPr txBox="1"/>
          <p:nvPr/>
        </p:nvSpPr>
        <p:spPr>
          <a:xfrm>
            <a:off x="9702896" y="659027"/>
            <a:ext cx="844093" cy="393169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none">
            <a:spAutoFit/>
          </a:bodyPr>
          <a:lstStyle/>
          <a:p>
            <a:pPr lvl="0">
              <a:defRPr/>
            </a:pPr>
            <a:endParaRPr lang="ko-KR" altLang="en-US" sz="2000" b="1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649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07234"/>
            <a:ext cx="12192000" cy="604353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1773831"/>
            <a:ext cx="1130239" cy="182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9758115" y="735366"/>
            <a:ext cx="724271" cy="240491"/>
          </a:xfrm>
          <a:prstGeom prst="rect">
            <a:avLst/>
          </a:prstGeom>
          <a:solidFill>
            <a:srgbClr val="3057B9"/>
          </a:solidFill>
          <a:ln w="28575"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다운로드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937059" y="1102967"/>
            <a:ext cx="614350" cy="18635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800" b="1">
                <a:solidFill>
                  <a:schemeClr val="dk1"/>
                </a:solidFill>
              </a:rPr>
              <a:t>직원정보</a:t>
            </a:r>
          </a:p>
        </p:txBody>
      </p:sp>
    </p:spTree>
    <p:extLst>
      <p:ext uri="{BB962C8B-B14F-4D97-AF65-F5344CB8AC3E}">
        <p14:creationId xmlns:p14="http://schemas.microsoft.com/office/powerpoint/2010/main" val="3620269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가로 글상자 8"/>
          <p:cNvSpPr txBox="1"/>
          <p:nvPr/>
        </p:nvSpPr>
        <p:spPr>
          <a:xfrm>
            <a:off x="350449" y="176289"/>
            <a:ext cx="1312616" cy="240906"/>
          </a:xfrm>
          <a:prstGeom prst="rect">
            <a:avLst/>
          </a:prstGeom>
          <a:solidFill>
            <a:srgbClr val="3057B9"/>
          </a:solidFill>
          <a:ln w="28575"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직원정보</a:t>
            </a:r>
            <a:r>
              <a:rPr lang="en-US" altLang="ko-KR" sz="1000" b="1">
                <a:solidFill>
                  <a:schemeClr val="lt1"/>
                </a:solidFill>
              </a:rPr>
              <a:t>(</a:t>
            </a:r>
            <a:r>
              <a:rPr lang="ko-KR" altLang="en-US" sz="1000" b="1">
                <a:solidFill>
                  <a:schemeClr val="lt1"/>
                </a:solidFill>
              </a:rPr>
              <a:t>엑셀파일</a:t>
            </a:r>
            <a:r>
              <a:rPr lang="en-US" altLang="ko-KR" sz="1000" b="1">
                <a:solidFill>
                  <a:schemeClr val="lt1"/>
                </a:solidFill>
              </a:rPr>
              <a:t>)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851848"/>
            <a:ext cx="12192000" cy="5154303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2089286" y="296742"/>
            <a:ext cx="1640704" cy="3585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/>
              <a:t>다운로드 가능</a:t>
            </a:r>
          </a:p>
        </p:txBody>
      </p:sp>
    </p:spTree>
    <p:extLst>
      <p:ext uri="{BB962C8B-B14F-4D97-AF65-F5344CB8AC3E}">
        <p14:creationId xmlns:p14="http://schemas.microsoft.com/office/powerpoint/2010/main" val="133270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07234"/>
            <a:ext cx="12192000" cy="604353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1773831"/>
            <a:ext cx="1130239" cy="182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9758115" y="735366"/>
            <a:ext cx="724271" cy="240491"/>
          </a:xfrm>
          <a:prstGeom prst="rect">
            <a:avLst/>
          </a:prstGeom>
          <a:solidFill>
            <a:srgbClr val="3057B9"/>
          </a:solidFill>
          <a:ln w="28575"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다운로드</a:t>
            </a:r>
          </a:p>
        </p:txBody>
      </p:sp>
      <p:sp>
        <p:nvSpPr>
          <p:cNvPr id="14" name="가로 글상자 13"/>
          <p:cNvSpPr txBox="1"/>
          <p:nvPr/>
        </p:nvSpPr>
        <p:spPr>
          <a:xfrm>
            <a:off x="11104040" y="659027"/>
            <a:ext cx="736006" cy="393169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none">
            <a:spAutoFit/>
          </a:bodyPr>
          <a:lstStyle/>
          <a:p>
            <a:pPr lvl="0">
              <a:defRPr/>
            </a:pPr>
            <a:endParaRPr lang="ko-KR" altLang="en-US" sz="2000" b="1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62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rcRect r="89900"/>
          <a:stretch>
            <a:fillRect/>
          </a:stretch>
        </p:blipFill>
        <p:spPr>
          <a:xfrm>
            <a:off x="0" y="407234"/>
            <a:ext cx="1231348" cy="6043531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0" y="1773831"/>
            <a:ext cx="1130239" cy="182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05037" y="628650"/>
            <a:ext cx="7781925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54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407234"/>
            <a:ext cx="12192000" cy="6043531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0" y="1954806"/>
            <a:ext cx="1130239" cy="182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가로 글상자 14"/>
          <p:cNvSpPr txBox="1"/>
          <p:nvPr/>
        </p:nvSpPr>
        <p:spPr>
          <a:xfrm>
            <a:off x="6373516" y="6002276"/>
            <a:ext cx="3545467" cy="393169"/>
          </a:xfrm>
          <a:prstGeom prst="rect">
            <a:avLst/>
          </a:prstGeom>
          <a:solidFill>
            <a:srgbClr val="3057B9"/>
          </a:solidFill>
          <a:ln w="28575"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chemeClr val="lt1"/>
                </a:solidFill>
              </a:rPr>
              <a:t>부서 설정시 조직도 자동 생성 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546902" y="1270489"/>
            <a:ext cx="9265476" cy="467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92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07234"/>
            <a:ext cx="12192000" cy="604353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0" y="2145306"/>
            <a:ext cx="1130239" cy="7622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1213223" y="2118983"/>
            <a:ext cx="1040392" cy="850912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결재문서함</a:t>
            </a:r>
            <a:endParaRPr lang="en-US" altLang="ko-KR" sz="1000" b="1">
              <a:solidFill>
                <a:schemeClr val="lt1"/>
              </a:solidFill>
            </a:endParaRPr>
          </a:p>
          <a:p>
            <a:pPr lvl="0">
              <a:defRPr/>
            </a:pP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결재완료함</a:t>
            </a:r>
          </a:p>
          <a:p>
            <a:pPr lvl="0">
              <a:defRPr/>
            </a:pP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문서보관함</a:t>
            </a:r>
          </a:p>
          <a:p>
            <a:pPr lvl="0">
              <a:defRPr/>
            </a:pP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결재선설정</a:t>
            </a:r>
          </a:p>
          <a:p>
            <a:pPr lvl="0">
              <a:defRPr/>
            </a:pP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결재양식관리</a:t>
            </a:r>
          </a:p>
        </p:txBody>
      </p:sp>
    </p:spTree>
    <p:extLst>
      <p:ext uri="{BB962C8B-B14F-4D97-AF65-F5344CB8AC3E}">
        <p14:creationId xmlns:p14="http://schemas.microsoft.com/office/powerpoint/2010/main" val="790209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407234"/>
            <a:ext cx="12192000" cy="6043531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136483" y="2122782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8" name="가로 글상자 7"/>
          <p:cNvSpPr txBox="1"/>
          <p:nvPr/>
        </p:nvSpPr>
        <p:spPr>
          <a:xfrm>
            <a:off x="1213775" y="777411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1213775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결재대기함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973566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결재진행함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2733357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반려함</a:t>
            </a:r>
          </a:p>
        </p:txBody>
      </p:sp>
      <p:sp>
        <p:nvSpPr>
          <p:cNvPr id="13" name="가로 글상자 12"/>
          <p:cNvSpPr txBox="1"/>
          <p:nvPr/>
        </p:nvSpPr>
        <p:spPr>
          <a:xfrm>
            <a:off x="3493148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회수함</a:t>
            </a:r>
          </a:p>
        </p:txBody>
      </p:sp>
      <p:sp>
        <p:nvSpPr>
          <p:cNvPr id="14" name="가로 글상자 13"/>
          <p:cNvSpPr txBox="1"/>
          <p:nvPr/>
        </p:nvSpPr>
        <p:spPr>
          <a:xfrm>
            <a:off x="4252939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임시저장함</a:t>
            </a:r>
          </a:p>
        </p:txBody>
      </p:sp>
      <p:sp>
        <p:nvSpPr>
          <p:cNvPr id="25" name="가로 글상자 24"/>
          <p:cNvSpPr txBox="1"/>
          <p:nvPr/>
        </p:nvSpPr>
        <p:spPr>
          <a:xfrm>
            <a:off x="11594094" y="725697"/>
            <a:ext cx="494430" cy="32967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none">
            <a:spAutoFit/>
          </a:bodyPr>
          <a:lstStyle/>
          <a:p>
            <a:pPr lvl="0">
              <a:defRPr/>
            </a:pPr>
            <a:endParaRPr lang="en-US" altLang="ko-KR" sz="1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273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90353"/>
          <a:stretch>
            <a:fillRect/>
          </a:stretch>
        </p:blipFill>
        <p:spPr>
          <a:xfrm>
            <a:off x="0" y="407234"/>
            <a:ext cx="1176131" cy="6043531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136483" y="2122782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42555" y="300925"/>
            <a:ext cx="10749445" cy="625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05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407234"/>
            <a:ext cx="12192000" cy="6043531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136483" y="2122782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8" name="가로 글상자 7"/>
          <p:cNvSpPr txBox="1"/>
          <p:nvPr/>
        </p:nvSpPr>
        <p:spPr>
          <a:xfrm>
            <a:off x="1213775" y="777411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1213775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결재대기함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973566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결재진행함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2733357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반려함</a:t>
            </a:r>
          </a:p>
        </p:txBody>
      </p:sp>
      <p:sp>
        <p:nvSpPr>
          <p:cNvPr id="24" name="가로 글상자 23"/>
          <p:cNvSpPr txBox="1"/>
          <p:nvPr/>
        </p:nvSpPr>
        <p:spPr>
          <a:xfrm>
            <a:off x="1213775" y="2856118"/>
            <a:ext cx="8526490" cy="9043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결재대기함 </a:t>
            </a:r>
            <a:r>
              <a:rPr lang="en-US" altLang="ko-KR"/>
              <a:t>:</a:t>
            </a:r>
            <a:r>
              <a:rPr lang="ko-KR" altLang="en-US"/>
              <a:t> 결재해야 하는 문서가 있는 곳</a:t>
            </a:r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결재진행함 </a:t>
            </a:r>
            <a:r>
              <a:rPr lang="en-US" altLang="ko-KR"/>
              <a:t>:</a:t>
            </a:r>
            <a:r>
              <a:rPr lang="ko-KR" altLang="en-US"/>
              <a:t> 기안했거나 결재라인에 포함된 문서 중 아직 결재가 끝나지 않은 상황</a:t>
            </a:r>
          </a:p>
          <a:p>
            <a:pPr lvl="0">
              <a:defRPr/>
            </a:pPr>
            <a:r>
              <a:rPr lang="en-US" altLang="ko-KR"/>
              <a:t>- </a:t>
            </a:r>
            <a:r>
              <a:rPr lang="ko-KR" altLang="en-US"/>
              <a:t>반려함 </a:t>
            </a:r>
            <a:r>
              <a:rPr lang="en-US" altLang="ko-KR"/>
              <a:t>:</a:t>
            </a:r>
            <a:r>
              <a:rPr lang="ko-KR" altLang="en-US"/>
              <a:t> 결재자가 승인하지 않고 반려한 문서</a:t>
            </a:r>
          </a:p>
        </p:txBody>
      </p:sp>
    </p:spTree>
    <p:extLst>
      <p:ext uri="{BB962C8B-B14F-4D97-AF65-F5344CB8AC3E}">
        <p14:creationId xmlns:p14="http://schemas.microsoft.com/office/powerpoint/2010/main" val="518619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403684"/>
            <a:ext cx="12192000" cy="6050632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136483" y="2122782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8" name="가로 글상자 7"/>
          <p:cNvSpPr txBox="1"/>
          <p:nvPr/>
        </p:nvSpPr>
        <p:spPr>
          <a:xfrm>
            <a:off x="1213775" y="777411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1213775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결재대기함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973566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결재진행함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2733357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반려함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131500" y="2469597"/>
            <a:ext cx="842065" cy="305242"/>
          </a:xfrm>
          <a:prstGeom prst="rect">
            <a:avLst/>
          </a:prstGeom>
          <a:noFill/>
          <a:ln>
            <a:solidFill>
              <a:schemeClr val="dk1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544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407234"/>
            <a:ext cx="12192000" cy="6043531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136483" y="2122782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8" name="가로 글상자 7"/>
          <p:cNvSpPr txBox="1"/>
          <p:nvPr/>
        </p:nvSpPr>
        <p:spPr>
          <a:xfrm>
            <a:off x="1213775" y="777411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1213775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결재대기함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973566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결재진행함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2733357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반려함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893500" y="2469597"/>
            <a:ext cx="842065" cy="324401"/>
          </a:xfrm>
          <a:prstGeom prst="rect">
            <a:avLst/>
          </a:prstGeom>
          <a:noFill/>
          <a:ln>
            <a:solidFill>
              <a:schemeClr val="dk1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가로 글상자 25"/>
          <p:cNvSpPr txBox="1"/>
          <p:nvPr/>
        </p:nvSpPr>
        <p:spPr>
          <a:xfrm>
            <a:off x="10257278" y="2980309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다음결재자</a:t>
            </a:r>
          </a:p>
        </p:txBody>
      </p:sp>
      <p:sp>
        <p:nvSpPr>
          <p:cNvPr id="27" name="가로 글상자 26"/>
          <p:cNvSpPr txBox="1"/>
          <p:nvPr/>
        </p:nvSpPr>
        <p:spPr>
          <a:xfrm>
            <a:off x="10257278" y="323359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송승환</a:t>
            </a:r>
          </a:p>
        </p:txBody>
      </p:sp>
    </p:spTree>
    <p:extLst>
      <p:ext uri="{BB962C8B-B14F-4D97-AF65-F5344CB8AC3E}">
        <p14:creationId xmlns:p14="http://schemas.microsoft.com/office/powerpoint/2010/main" val="161971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07234"/>
            <a:ext cx="12192000" cy="6043531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136483" y="2122782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8" name="가로 글상자 7"/>
          <p:cNvSpPr txBox="1"/>
          <p:nvPr/>
        </p:nvSpPr>
        <p:spPr>
          <a:xfrm>
            <a:off x="1213775" y="777411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1213775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결재대기함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973566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결재진행함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2733357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반려함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2665025" y="2469597"/>
            <a:ext cx="842065" cy="324401"/>
          </a:xfrm>
          <a:prstGeom prst="rect">
            <a:avLst/>
          </a:prstGeom>
          <a:noFill/>
          <a:ln>
            <a:solidFill>
              <a:schemeClr val="dk1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가로 글상자 15"/>
          <p:cNvSpPr txBox="1"/>
          <p:nvPr/>
        </p:nvSpPr>
        <p:spPr>
          <a:xfrm>
            <a:off x="10216418" y="2945797"/>
            <a:ext cx="663160" cy="195548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사유</a:t>
            </a:r>
          </a:p>
        </p:txBody>
      </p:sp>
      <p:sp>
        <p:nvSpPr>
          <p:cNvPr id="17" name="가로 글상자 16"/>
          <p:cNvSpPr txBox="1"/>
          <p:nvPr/>
        </p:nvSpPr>
        <p:spPr>
          <a:xfrm>
            <a:off x="11149729" y="2945797"/>
            <a:ext cx="663160" cy="195548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반려일자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10175005" y="3235357"/>
            <a:ext cx="745987" cy="193643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700" b="1">
                <a:solidFill>
                  <a:schemeClr val="lt1"/>
                </a:solidFill>
              </a:rPr>
              <a:t>(</a:t>
            </a:r>
            <a:r>
              <a:rPr lang="ko-KR" altLang="en-US" sz="700" b="1">
                <a:solidFill>
                  <a:schemeClr val="lt1"/>
                </a:solidFill>
              </a:rPr>
              <a:t>문서이모티콘</a:t>
            </a:r>
            <a:r>
              <a:rPr lang="en-US" altLang="ko-KR" sz="700" b="1">
                <a:solidFill>
                  <a:schemeClr val="l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46843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07234"/>
            <a:ext cx="12192000" cy="6043531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136483" y="2122782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8" name="가로 글상자 7"/>
          <p:cNvSpPr txBox="1"/>
          <p:nvPr/>
        </p:nvSpPr>
        <p:spPr>
          <a:xfrm>
            <a:off x="1213775" y="777411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1213775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결재대기함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973566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결재진행함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2733357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반려함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0126965" y="3169977"/>
            <a:ext cx="842065" cy="324401"/>
          </a:xfrm>
          <a:prstGeom prst="rect">
            <a:avLst/>
          </a:prstGeom>
          <a:noFill/>
          <a:ln>
            <a:solidFill>
              <a:schemeClr val="dk1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가로 글상자 15"/>
          <p:cNvSpPr txBox="1"/>
          <p:nvPr/>
        </p:nvSpPr>
        <p:spPr>
          <a:xfrm>
            <a:off x="10216418" y="2945797"/>
            <a:ext cx="663160" cy="195548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사유</a:t>
            </a:r>
          </a:p>
        </p:txBody>
      </p:sp>
      <p:sp>
        <p:nvSpPr>
          <p:cNvPr id="17" name="가로 글상자 16"/>
          <p:cNvSpPr txBox="1"/>
          <p:nvPr/>
        </p:nvSpPr>
        <p:spPr>
          <a:xfrm>
            <a:off x="11149729" y="2945797"/>
            <a:ext cx="663160" cy="195548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반려일자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10175005" y="3235357"/>
            <a:ext cx="745987" cy="193643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700" b="1">
                <a:solidFill>
                  <a:schemeClr val="lt1"/>
                </a:solidFill>
              </a:rPr>
              <a:t>(</a:t>
            </a:r>
            <a:r>
              <a:rPr lang="ko-KR" altLang="en-US" sz="700" b="1">
                <a:solidFill>
                  <a:schemeClr val="lt1"/>
                </a:solidFill>
              </a:rPr>
              <a:t>문서이모티콘</a:t>
            </a:r>
            <a:r>
              <a:rPr lang="en-US" altLang="ko-KR" sz="700" b="1">
                <a:solidFill>
                  <a:schemeClr val="l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1404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07234"/>
            <a:ext cx="12192000" cy="6043531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136483" y="2122782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8" name="가로 글상자 7"/>
          <p:cNvSpPr txBox="1"/>
          <p:nvPr/>
        </p:nvSpPr>
        <p:spPr>
          <a:xfrm>
            <a:off x="1213775" y="777411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결재문서함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1213775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결재대기함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973566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결재진행함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2733357" y="2517311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반려함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4377454" y="1610086"/>
            <a:ext cx="3250924" cy="3464890"/>
          </a:xfrm>
          <a:prstGeom prst="rect">
            <a:avLst/>
          </a:prstGeom>
          <a:solidFill>
            <a:srgbClr val="3057B9"/>
          </a:solidFill>
          <a:ln>
            <a:noFill/>
            <a:prstDash val="soli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>
                <a:solidFill>
                  <a:schemeClr val="lt1"/>
                </a:solidFill>
              </a:rPr>
              <a:t>-</a:t>
            </a:r>
            <a:r>
              <a:rPr lang="ko-KR" altLang="en-US">
                <a:solidFill>
                  <a:schemeClr val="lt1"/>
                </a:solidFill>
              </a:rPr>
              <a:t> 기안자 </a:t>
            </a:r>
            <a:r>
              <a:rPr lang="en-US" altLang="ko-KR">
                <a:solidFill>
                  <a:schemeClr val="lt1"/>
                </a:solidFill>
              </a:rPr>
              <a:t>:</a:t>
            </a:r>
            <a:r>
              <a:rPr lang="ko-KR" altLang="en-US">
                <a:solidFill>
                  <a:schemeClr val="lt1"/>
                </a:solidFill>
              </a:rPr>
              <a:t> </a:t>
            </a:r>
            <a:r>
              <a:rPr lang="en-US" altLang="ko-KR">
                <a:solidFill>
                  <a:schemeClr val="lt1"/>
                </a:solidFill>
              </a:rPr>
              <a:t>OOO</a:t>
            </a:r>
          </a:p>
          <a:p>
            <a:pPr lvl="0">
              <a:defRPr/>
            </a:pPr>
            <a:br>
              <a:rPr lang="ko-KR" altLang="en-US">
                <a:solidFill>
                  <a:schemeClr val="lt1"/>
                </a:solidFill>
              </a:rPr>
            </a:br>
            <a:r>
              <a:rPr lang="en-US" altLang="ko-KR">
                <a:solidFill>
                  <a:schemeClr val="lt1"/>
                </a:solidFill>
              </a:rPr>
              <a:t>-</a:t>
            </a:r>
            <a:r>
              <a:rPr lang="ko-KR" altLang="en-US">
                <a:solidFill>
                  <a:schemeClr val="lt1"/>
                </a:solidFill>
              </a:rPr>
              <a:t> 결재자 </a:t>
            </a:r>
            <a:r>
              <a:rPr lang="en-US" altLang="ko-KR">
                <a:solidFill>
                  <a:schemeClr val="lt1"/>
                </a:solidFill>
              </a:rPr>
              <a:t>:</a:t>
            </a:r>
            <a:r>
              <a:rPr lang="ko-KR" altLang="en-US">
                <a:solidFill>
                  <a:schemeClr val="lt1"/>
                </a:solidFill>
              </a:rPr>
              <a:t> 송승환</a:t>
            </a:r>
          </a:p>
          <a:p>
            <a:pPr lvl="0">
              <a:defRPr/>
            </a:pPr>
            <a:br>
              <a:rPr lang="ko-KR" altLang="en-US">
                <a:solidFill>
                  <a:schemeClr val="lt1"/>
                </a:solidFill>
              </a:rPr>
            </a:br>
            <a:r>
              <a:rPr lang="en-US" altLang="ko-KR">
                <a:solidFill>
                  <a:schemeClr val="lt1"/>
                </a:solidFill>
              </a:rPr>
              <a:t>-</a:t>
            </a:r>
            <a:r>
              <a:rPr lang="ko-KR" altLang="en-US">
                <a:solidFill>
                  <a:schemeClr val="lt1"/>
                </a:solidFill>
              </a:rPr>
              <a:t> 내용</a:t>
            </a:r>
          </a:p>
          <a:p>
            <a:pPr lvl="0">
              <a:defRPr/>
            </a:pPr>
            <a:endParaRPr lang="ko-KR" altLang="en-US">
              <a:solidFill>
                <a:schemeClr val="lt1"/>
              </a:solidFill>
            </a:endParaRPr>
          </a:p>
          <a:p>
            <a:pPr lvl="0">
              <a:defRPr/>
            </a:pPr>
            <a:r>
              <a:rPr lang="en-US" altLang="ko-KR">
                <a:solidFill>
                  <a:schemeClr val="lt1"/>
                </a:solidFill>
              </a:rPr>
              <a:t>-----------------------------------------------------------------------------------------------------------------------------------------------------------------------------------------------------------------------</a:t>
            </a:r>
          </a:p>
        </p:txBody>
      </p:sp>
      <p:sp>
        <p:nvSpPr>
          <p:cNvPr id="16" name="가로 글상자 15"/>
          <p:cNvSpPr txBox="1"/>
          <p:nvPr/>
        </p:nvSpPr>
        <p:spPr>
          <a:xfrm>
            <a:off x="10216418" y="2945797"/>
            <a:ext cx="663160" cy="195548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사유</a:t>
            </a:r>
          </a:p>
        </p:txBody>
      </p:sp>
      <p:sp>
        <p:nvSpPr>
          <p:cNvPr id="17" name="가로 글상자 16"/>
          <p:cNvSpPr txBox="1"/>
          <p:nvPr/>
        </p:nvSpPr>
        <p:spPr>
          <a:xfrm>
            <a:off x="11149729" y="2945797"/>
            <a:ext cx="663160" cy="195548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반려일자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10175005" y="3235357"/>
            <a:ext cx="745987" cy="193643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700" b="1">
                <a:solidFill>
                  <a:schemeClr val="lt1"/>
                </a:solidFill>
              </a:rPr>
              <a:t>(</a:t>
            </a:r>
            <a:r>
              <a:rPr lang="ko-KR" altLang="en-US" sz="700" b="1">
                <a:solidFill>
                  <a:schemeClr val="lt1"/>
                </a:solidFill>
              </a:rPr>
              <a:t>문서이모티콘</a:t>
            </a:r>
            <a:r>
              <a:rPr lang="en-US" altLang="ko-KR" sz="700" b="1">
                <a:solidFill>
                  <a:schemeClr val="l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3181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407234"/>
            <a:ext cx="12192000" cy="6043531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136483" y="2294232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결재완료함</a:t>
            </a:r>
          </a:p>
        </p:txBody>
      </p:sp>
      <p:sp>
        <p:nvSpPr>
          <p:cNvPr id="6" name="가로 글상자 5"/>
          <p:cNvSpPr txBox="1"/>
          <p:nvPr/>
        </p:nvSpPr>
        <p:spPr>
          <a:xfrm>
            <a:off x="1213775" y="777411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결재완료함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1213775" y="2487708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결재완료문서</a:t>
            </a:r>
          </a:p>
        </p:txBody>
      </p:sp>
      <p:sp>
        <p:nvSpPr>
          <p:cNvPr id="10" name="가로 글상자 9"/>
          <p:cNvSpPr txBox="1"/>
          <p:nvPr/>
        </p:nvSpPr>
        <p:spPr>
          <a:xfrm>
            <a:off x="2112162" y="2487708"/>
            <a:ext cx="1995652" cy="23985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삭제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1577252" y="782794"/>
            <a:ext cx="553098" cy="23985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3527134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03684"/>
            <a:ext cx="12192000" cy="6050632"/>
          </a:xfrm>
          <a:prstGeom prst="rect">
            <a:avLst/>
          </a:prstGeom>
        </p:spPr>
      </p:pic>
      <p:sp>
        <p:nvSpPr>
          <p:cNvPr id="8" name="가로 글상자 7"/>
          <p:cNvSpPr txBox="1"/>
          <p:nvPr/>
        </p:nvSpPr>
        <p:spPr>
          <a:xfrm>
            <a:off x="1291354" y="2565626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회수함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2051145" y="2565626"/>
            <a:ext cx="663160" cy="19540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임시저장함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2810936" y="2565626"/>
            <a:ext cx="663160" cy="194719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참조문서함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126958" y="2437107"/>
            <a:ext cx="849892" cy="193476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00" b="1">
                <a:solidFill>
                  <a:schemeClr val="lt1"/>
                </a:solidFill>
              </a:rPr>
              <a:t>문서보관함</a:t>
            </a:r>
          </a:p>
        </p:txBody>
      </p:sp>
    </p:spTree>
    <p:extLst>
      <p:ext uri="{BB962C8B-B14F-4D97-AF65-F5344CB8AC3E}">
        <p14:creationId xmlns:p14="http://schemas.microsoft.com/office/powerpoint/2010/main" val="3933830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308081"/>
            <a:ext cx="12192000" cy="60960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7800" y="2098234"/>
            <a:ext cx="1130239" cy="8795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1213223" y="1843231"/>
            <a:ext cx="1052815" cy="694793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자산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카드관리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계좌관리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지출정책관리 </a:t>
            </a:r>
          </a:p>
        </p:txBody>
      </p:sp>
    </p:spTree>
    <p:extLst>
      <p:ext uri="{BB962C8B-B14F-4D97-AF65-F5344CB8AC3E}">
        <p14:creationId xmlns:p14="http://schemas.microsoft.com/office/powerpoint/2010/main" val="1987810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r="90183"/>
          <a:stretch>
            <a:fillRect/>
          </a:stretch>
        </p:blipFill>
        <p:spPr>
          <a:xfrm>
            <a:off x="0" y="403684"/>
            <a:ext cx="1196836" cy="605063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96836" y="1118923"/>
            <a:ext cx="10915097" cy="5335392"/>
          </a:xfrm>
          <a:prstGeom prst="rect">
            <a:avLst/>
          </a:prstGeom>
        </p:spPr>
      </p:pic>
      <p:sp>
        <p:nvSpPr>
          <p:cNvPr id="12" name="가로 글상자 11"/>
          <p:cNvSpPr txBox="1"/>
          <p:nvPr/>
        </p:nvSpPr>
        <p:spPr>
          <a:xfrm>
            <a:off x="1428748" y="769874"/>
            <a:ext cx="724647" cy="237318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카드관리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196836" y="1798300"/>
            <a:ext cx="3609837" cy="607390"/>
          </a:xfrm>
          <a:prstGeom prst="rect">
            <a:avLst/>
          </a:prstGeom>
          <a:noFill/>
          <a:ln>
            <a:solidFill>
              <a:schemeClr val="dk1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가로 글상자 13"/>
          <p:cNvSpPr txBox="1"/>
          <p:nvPr/>
        </p:nvSpPr>
        <p:spPr>
          <a:xfrm>
            <a:off x="88169" y="2122702"/>
            <a:ext cx="1052815" cy="694793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자산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카드관리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계좌관리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지출정책관리 </a:t>
            </a:r>
          </a:p>
        </p:txBody>
      </p:sp>
    </p:spTree>
    <p:extLst>
      <p:ext uri="{BB962C8B-B14F-4D97-AF65-F5344CB8AC3E}">
        <p14:creationId xmlns:p14="http://schemas.microsoft.com/office/powerpoint/2010/main" val="3733963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r="90183"/>
          <a:stretch>
            <a:fillRect/>
          </a:stretch>
        </p:blipFill>
        <p:spPr>
          <a:xfrm>
            <a:off x="0" y="403684"/>
            <a:ext cx="1196836" cy="605063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04511" y="580462"/>
            <a:ext cx="10887489" cy="5986967"/>
          </a:xfrm>
          <a:prstGeom prst="rect">
            <a:avLst/>
          </a:prstGeom>
        </p:spPr>
      </p:pic>
      <p:sp>
        <p:nvSpPr>
          <p:cNvPr id="16" name="가로 글상자 15"/>
          <p:cNvSpPr txBox="1"/>
          <p:nvPr/>
        </p:nvSpPr>
        <p:spPr>
          <a:xfrm>
            <a:off x="88169" y="2122702"/>
            <a:ext cx="1052815" cy="694793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자산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카드관리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계좌관리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지출정책관리 </a:t>
            </a:r>
          </a:p>
        </p:txBody>
      </p:sp>
    </p:spTree>
    <p:extLst>
      <p:ext uri="{BB962C8B-B14F-4D97-AF65-F5344CB8AC3E}">
        <p14:creationId xmlns:p14="http://schemas.microsoft.com/office/powerpoint/2010/main" val="1878999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가로 글상자 5"/>
          <p:cNvSpPr txBox="1"/>
          <p:nvPr/>
        </p:nvSpPr>
        <p:spPr>
          <a:xfrm>
            <a:off x="1242390" y="445472"/>
            <a:ext cx="725475" cy="238422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계좌관리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l="10700"/>
          <a:stretch>
            <a:fillRect/>
          </a:stretch>
        </p:blipFill>
        <p:spPr>
          <a:xfrm>
            <a:off x="1196836" y="897288"/>
            <a:ext cx="10887489" cy="604353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r="90183"/>
          <a:stretch>
            <a:fillRect/>
          </a:stretch>
        </p:blipFill>
        <p:spPr>
          <a:xfrm>
            <a:off x="0" y="403684"/>
            <a:ext cx="1196836" cy="605063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196836" y="1963952"/>
            <a:ext cx="3492500" cy="441738"/>
          </a:xfrm>
          <a:prstGeom prst="rect">
            <a:avLst/>
          </a:prstGeom>
          <a:noFill/>
          <a:ln>
            <a:solidFill>
              <a:schemeClr val="dk1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가로 글상자 11"/>
          <p:cNvSpPr txBox="1"/>
          <p:nvPr/>
        </p:nvSpPr>
        <p:spPr>
          <a:xfrm>
            <a:off x="88169" y="2122702"/>
            <a:ext cx="1052815" cy="694793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자산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카드관리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계좌관리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지출정책관리 </a:t>
            </a:r>
          </a:p>
        </p:txBody>
      </p:sp>
    </p:spTree>
    <p:extLst>
      <p:ext uri="{BB962C8B-B14F-4D97-AF65-F5344CB8AC3E}">
        <p14:creationId xmlns:p14="http://schemas.microsoft.com/office/powerpoint/2010/main" val="3605247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가로 글상자 5"/>
          <p:cNvSpPr txBox="1"/>
          <p:nvPr/>
        </p:nvSpPr>
        <p:spPr>
          <a:xfrm>
            <a:off x="1242390" y="445472"/>
            <a:ext cx="725475" cy="238422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계좌관리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r="90183"/>
          <a:stretch>
            <a:fillRect/>
          </a:stretch>
        </p:blipFill>
        <p:spPr>
          <a:xfrm>
            <a:off x="0" y="403684"/>
            <a:ext cx="1196836" cy="605063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42390" y="1144916"/>
            <a:ext cx="10852978" cy="4250667"/>
          </a:xfrm>
          <a:prstGeom prst="rect">
            <a:avLst/>
          </a:prstGeom>
        </p:spPr>
      </p:pic>
      <p:sp>
        <p:nvSpPr>
          <p:cNvPr id="12" name="가로 글상자 11"/>
          <p:cNvSpPr txBox="1"/>
          <p:nvPr/>
        </p:nvSpPr>
        <p:spPr>
          <a:xfrm>
            <a:off x="88169" y="2122702"/>
            <a:ext cx="1052815" cy="694793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자산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카드관리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계좌관리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지출정책관리 </a:t>
            </a:r>
          </a:p>
        </p:txBody>
      </p:sp>
    </p:spTree>
    <p:extLst>
      <p:ext uri="{BB962C8B-B14F-4D97-AF65-F5344CB8AC3E}">
        <p14:creationId xmlns:p14="http://schemas.microsoft.com/office/powerpoint/2010/main" val="2665811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03684"/>
            <a:ext cx="12192000" cy="6050632"/>
          </a:xfrm>
          <a:prstGeom prst="rect">
            <a:avLst/>
          </a:prstGeom>
        </p:spPr>
      </p:pic>
      <p:sp>
        <p:nvSpPr>
          <p:cNvPr id="12" name="가로 글상자 11"/>
          <p:cNvSpPr txBox="1"/>
          <p:nvPr/>
        </p:nvSpPr>
        <p:spPr>
          <a:xfrm>
            <a:off x="1290704" y="568032"/>
            <a:ext cx="4510489" cy="54573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지출정책관리</a:t>
            </a:r>
          </a:p>
          <a:p>
            <a:pPr lvl="0">
              <a:defRPr/>
            </a:pPr>
            <a:endParaRPr lang="ko-KR" altLang="en-US" sz="1000" b="1">
              <a:solidFill>
                <a:schemeClr val="lt1"/>
              </a:solidFill>
            </a:endParaRP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회사 지출 항목별 사용 정책과 한도를 설정하고 관리합니다</a:t>
            </a:r>
            <a:r>
              <a:rPr lang="en-US" altLang="ko-KR" sz="1000" b="1">
                <a:solidFill>
                  <a:schemeClr val="lt1"/>
                </a:solidFill>
              </a:rPr>
              <a:t>.</a:t>
            </a:r>
          </a:p>
        </p:txBody>
      </p:sp>
      <p:sp>
        <p:nvSpPr>
          <p:cNvPr id="13" name="가로 글상자 12"/>
          <p:cNvSpPr txBox="1"/>
          <p:nvPr/>
        </p:nvSpPr>
        <p:spPr>
          <a:xfrm>
            <a:off x="88169" y="2122702"/>
            <a:ext cx="1052815" cy="694793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자산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카드관리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계좌관리</a:t>
            </a:r>
          </a:p>
          <a:p>
            <a:pPr lvl="0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 </a:t>
            </a:r>
            <a:r>
              <a:rPr lang="en-US" altLang="ko-KR" sz="1000" b="1">
                <a:solidFill>
                  <a:schemeClr val="lt1"/>
                </a:solidFill>
              </a:rPr>
              <a:t>-</a:t>
            </a:r>
            <a:r>
              <a:rPr lang="ko-KR" altLang="en-US" sz="1000" b="1">
                <a:solidFill>
                  <a:schemeClr val="lt1"/>
                </a:solidFill>
              </a:rPr>
              <a:t> 지출정책관리 </a:t>
            </a:r>
          </a:p>
        </p:txBody>
      </p:sp>
    </p:spTree>
    <p:extLst>
      <p:ext uri="{BB962C8B-B14F-4D97-AF65-F5344CB8AC3E}">
        <p14:creationId xmlns:p14="http://schemas.microsoft.com/office/powerpoint/2010/main" val="2909837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403684"/>
            <a:ext cx="12192000" cy="6050632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1835977" y="1051185"/>
            <a:ext cx="527934" cy="24231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삭제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425858" y="659441"/>
            <a:ext cx="683315" cy="391743"/>
          </a:xfrm>
          <a:prstGeom prst="rect">
            <a:avLst/>
          </a:prstGeom>
          <a:noFill/>
          <a:ln>
            <a:solidFill>
              <a:schemeClr val="dk1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0754" y="2621445"/>
            <a:ext cx="1076739" cy="227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516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가로 글상자 2"/>
          <p:cNvSpPr txBox="1"/>
          <p:nvPr/>
        </p:nvSpPr>
        <p:spPr>
          <a:xfrm>
            <a:off x="1835977" y="1051185"/>
            <a:ext cx="527934" cy="24231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삭제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5184" y="521573"/>
            <a:ext cx="12192000" cy="6050632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4542181" y="3674563"/>
            <a:ext cx="3061031" cy="242310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000" b="1">
                <a:solidFill>
                  <a:schemeClr val="lt1"/>
                </a:solidFill>
              </a:rPr>
              <a:t>담당자 연락처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3099077" y="631142"/>
            <a:ext cx="5023648" cy="5830329"/>
            <a:chOff x="3099077" y="631142"/>
            <a:chExt cx="5023648" cy="5830329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3099077" y="631142"/>
              <a:ext cx="5023648" cy="2742640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3099077" y="3373782"/>
              <a:ext cx="5023648" cy="2791181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3099077" y="6164963"/>
              <a:ext cx="5023648" cy="2965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4407181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와이드스크린</PresentationFormat>
  <Paragraphs>129</Paragraphs>
  <Slides>27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Arial</vt:lpstr>
      <vt:lpstr>Calibri</vt:lpstr>
      <vt:lpstr>한컴오피스</vt:lpstr>
      <vt:lpstr>노무패키지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노무패키지</dc:title>
  <dc:creator>90616</dc:creator>
  <cp:lastModifiedBy>송승환[ 직원 / 세종창업지원센터 ]</cp:lastModifiedBy>
  <cp:revision>66</cp:revision>
  <dcterms:created xsi:type="dcterms:W3CDTF">2026-03-03T07:40:59Z</dcterms:created>
  <dcterms:modified xsi:type="dcterms:W3CDTF">2026-03-11T16:35:32Z</dcterms:modified>
  <cp:version>13.0.0.2986</cp:version>
</cp:coreProperties>
</file>