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67" r:id="rId3"/>
    <p:sldId id="257" r:id="rId4"/>
    <p:sldId id="258" r:id="rId5"/>
    <p:sldId id="260" r:id="rId6"/>
    <p:sldId id="262" r:id="rId7"/>
    <p:sldId id="265" r:id="rId8"/>
    <p:sldId id="266" r:id="rId9"/>
    <p:sldId id="264" r:id="rId10"/>
    <p:sldId id="268" r:id="rId11"/>
    <p:sldId id="271" r:id="rId12"/>
    <p:sldId id="286" r:id="rId13"/>
    <p:sldId id="269" r:id="rId14"/>
    <p:sldId id="273" r:id="rId15"/>
    <p:sldId id="287" r:id="rId16"/>
    <p:sldId id="270" r:id="rId17"/>
    <p:sldId id="274" r:id="rId18"/>
    <p:sldId id="288" r:id="rId19"/>
    <p:sldId id="289" r:id="rId20"/>
    <p:sldId id="263" r:id="rId21"/>
    <p:sldId id="275" r:id="rId22"/>
    <p:sldId id="284" r:id="rId23"/>
    <p:sldId id="276" r:id="rId24"/>
    <p:sldId id="283" r:id="rId25"/>
    <p:sldId id="282" r:id="rId26"/>
    <p:sldId id="280" r:id="rId27"/>
    <p:sldId id="277" r:id="rId28"/>
    <p:sldId id="279" r:id="rId29"/>
    <p:sldId id="285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19EF"/>
    <a:srgbClr val="EDF1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26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33" d="100"/>
        <a:sy n="33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017E53-0FA3-465A-8D03-6BB3EE9A01A9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B1AADF-4A5D-4207-B607-776FBE1D7E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859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B1AADF-4A5D-4207-B607-776FBE1D7E2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4280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B1AADF-4A5D-4207-B607-776FBE1D7E2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9002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B1AADF-4A5D-4207-B607-776FBE1D7E2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1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B1AADF-4A5D-4207-B607-776FBE1D7E2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137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B1AADF-4A5D-4207-B607-776FBE1D7E2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6235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B1AADF-4A5D-4207-B607-776FBE1D7E2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143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B1AADF-4A5D-4207-B607-776FBE1D7E20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355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B1AADF-4A5D-4207-B607-776FBE1D7E20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1634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B1AADF-4A5D-4207-B607-776FBE1D7E20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4910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B1AADF-4A5D-4207-B607-776FBE1D7E20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764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D85BF8-400C-AAB7-4F0E-26D5ACADE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4AE1B5-03CA-BC37-599F-B1BEFD589D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189E72-F0E2-2EB4-3320-63CE3D8C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2F0EC-05B3-44A2-91BA-F7784B7230CF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CB1115-428C-4F64-0905-3C9CAF0A7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B3F0D9-98C7-4103-E1EB-2205A98C6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4BA80-F77C-49E9-A177-D78F14E5F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56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34A0-163D-DCA7-ACFA-0C306F2C1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65F287-B854-1D3E-7464-B43FD1D00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68F867-96D3-7A48-6C83-8B0777A1D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2F0EC-05B3-44A2-91BA-F7784B7230CF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1F5DC2-6C45-172E-EE3B-C377F9887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D9595F-3D21-F4C3-0534-B7677FDB8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4BA80-F77C-49E9-A177-D78F14E5F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743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5E020D-6DC8-33C2-FB84-61E77962E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D911AC-61A3-F405-D4C7-FF698A2AF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43BDF0-D94E-F859-D6BB-F4A5D3129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2F0EC-05B3-44A2-91BA-F7784B7230CF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BD3FDF-E313-B55B-18E0-2C220308A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147EEE-ED41-9D82-4270-1174D60A0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4BA80-F77C-49E9-A177-D78F14E5F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023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42EAA1-B374-BFDD-629D-5C0B9D7A2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17E207-00EA-30F3-9953-85EA418728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A89219-82CB-532C-6545-89D628BFB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6D0B6F-DB5C-F9C1-41C2-82B1A9E27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2F0EC-05B3-44A2-91BA-F7784B7230CF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0F0FEE-963F-71EA-23FA-84C0860D0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5C0FA-6528-A099-1BCA-723E846F6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4BA80-F77C-49E9-A177-D78F14E5F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2634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9992E6-9677-808B-C118-8F6CB40A8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310F91-DF46-7841-229B-1D4D968C9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E38630-7C62-C047-DAD5-C8EF108D2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72F36A6-AD2B-2F4B-599A-DD4AF5A667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0CD8E30-39E0-E6BE-7D7E-49CADA5FFE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8817284-CEC0-AD5F-FF35-D565D60F9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2F0EC-05B3-44A2-91BA-F7784B7230CF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7AAE12-4F8C-4257-59E0-548B7886C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0322F4-B5FC-0D46-BC4E-E398FFFBF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4BA80-F77C-49E9-A177-D78F14E5F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6253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C25E69-19AC-B20F-DCB7-D8FCFFED5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0F24A1-7630-B51C-FB23-0E46AF3EB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2F0EC-05B3-44A2-91BA-F7784B7230CF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09CB372-AFC0-2B36-F709-2A31ACED3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4B3A8F-4A3B-290A-236A-78DEBC089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4BA80-F77C-49E9-A177-D78F14E5F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50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B18475-161D-9E60-CDF7-E3658E48D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2F0EC-05B3-44A2-91BA-F7784B7230CF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17BF0E8-8C79-E23A-FF57-39F8FB666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123B46-A001-1BB9-BE87-06F762D0C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4BA80-F77C-49E9-A177-D78F14E5F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374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1E0A2-5687-F0CE-F28A-707B128CB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E536C2-5218-C837-DE69-66E36C5AD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00E6A9-4676-26AC-8402-5E05E3552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C8350B-E84D-D67B-692D-03E41D096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2F0EC-05B3-44A2-91BA-F7784B7230CF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FF30FF-E639-7CCE-D4B5-A2607C03A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976BE1-8E9C-A98E-89EC-1199F7164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4BA80-F77C-49E9-A177-D78F14E5F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461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C9D5DD-95ED-E850-4E98-5E18431B6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0B449C-86C2-5B11-728B-22BE9DEC32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66420A-212B-6161-D5D8-DD2B916A1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B1C812-2E5D-E340-0DB7-7CDB1BA8F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2F0EC-05B3-44A2-91BA-F7784B7230CF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642266-C2B9-7704-EB0E-CFE755679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157B74-9AE1-B19D-426D-9E22C9DAB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4BA80-F77C-49E9-A177-D78F14E5F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4415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AF1A53-D011-2ADC-C1AC-5AA903CD2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E3F1E6E-546F-E642-79A2-F97E90C583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2CF083-73A9-EF94-474B-A986D677D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2F0EC-05B3-44A2-91BA-F7784B7230CF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8D19DA-FE9F-A80F-B3CC-C1E6CAB49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82A13B-5089-F1D4-58C8-6D4CE1B6D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4BA80-F77C-49E9-A177-D78F14E5F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2911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A152B0A-712A-7CBB-7B31-FE4B15DA18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65746F-EA02-13D6-5BD9-A752C58AF0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0394C6-EB3B-DADF-6F8E-6EA5F77A1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2F0EC-05B3-44A2-91BA-F7784B7230CF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19C92F-F9C8-D613-D23A-A71638595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A4EEF4-BE09-66B7-7959-61C4D84A1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4BA80-F77C-49E9-A177-D78F14E5F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675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39BDEC6-9DE9-85AB-17A0-5ED9B38E3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D1E053-3CE8-E979-7CF0-0A8880AEF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FAF839-6028-249C-83C8-439677821B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2F0EC-05B3-44A2-91BA-F7784B7230CF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DC26A8-725F-54B0-1A3D-7C8EB4B1C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A50D66-7BA6-BBC7-028D-AFB9D64D6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4BA80-F77C-49E9-A177-D78F14E5F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131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D70348A-C494-A45C-AD81-0514B4677263}"/>
              </a:ext>
            </a:extLst>
          </p:cNvPr>
          <p:cNvSpPr/>
          <p:nvPr/>
        </p:nvSpPr>
        <p:spPr>
          <a:xfrm>
            <a:off x="1817370" y="1432560"/>
            <a:ext cx="8557260" cy="16306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 dirty="0" err="1">
                <a:solidFill>
                  <a:schemeClr val="bg1"/>
                </a:solidFill>
              </a:rPr>
              <a:t>Zaemit</a:t>
            </a:r>
            <a:r>
              <a:rPr lang="en-US" altLang="ko-KR" sz="4000" b="1" dirty="0">
                <a:solidFill>
                  <a:schemeClr val="bg1"/>
                </a:solidFill>
              </a:rPr>
              <a:t> </a:t>
            </a:r>
            <a:r>
              <a:rPr lang="ko-KR" altLang="en-US" sz="4000" b="1" dirty="0">
                <a:solidFill>
                  <a:schemeClr val="bg1"/>
                </a:solidFill>
              </a:rPr>
              <a:t>기업관리패키지 서비스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D624E79-4760-D041-3579-A2C3ADFB71B9}"/>
              </a:ext>
            </a:extLst>
          </p:cNvPr>
          <p:cNvSpPr/>
          <p:nvPr/>
        </p:nvSpPr>
        <p:spPr>
          <a:xfrm>
            <a:off x="7818120" y="4629150"/>
            <a:ext cx="3611880" cy="14401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With </a:t>
            </a:r>
          </a:p>
          <a:p>
            <a:pPr algn="ctr"/>
            <a:endParaRPr lang="en-US" altLang="ko-KR" sz="2000" b="1" dirty="0"/>
          </a:p>
          <a:p>
            <a:pPr algn="ctr"/>
            <a:r>
              <a:rPr lang="en-US" altLang="ko-KR" sz="2000" b="1" dirty="0"/>
              <a:t>J Partners Solution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10604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E189DE1-844A-0BFC-398A-B7CD436877FA}"/>
              </a:ext>
            </a:extLst>
          </p:cNvPr>
          <p:cNvSpPr/>
          <p:nvPr/>
        </p:nvSpPr>
        <p:spPr>
          <a:xfrm>
            <a:off x="777240" y="693420"/>
            <a:ext cx="10759440" cy="5730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/>
              <a:t>&lt;</a:t>
            </a:r>
            <a:r>
              <a:rPr lang="en-US" altLang="ko-KR" sz="3600" b="1" dirty="0" err="1"/>
              <a:t>Zaemit</a:t>
            </a:r>
            <a:r>
              <a:rPr lang="en-US" altLang="ko-KR" sz="3600" b="1" dirty="0"/>
              <a:t> </a:t>
            </a:r>
            <a:r>
              <a:rPr lang="ko-KR" altLang="en-US" sz="3600" b="1" dirty="0"/>
              <a:t>기업관리 패키지 경쟁력</a:t>
            </a:r>
            <a:r>
              <a:rPr lang="en-US" altLang="ko-KR" sz="3600" b="1" dirty="0"/>
              <a:t>&gt;</a:t>
            </a:r>
          </a:p>
          <a:p>
            <a:pPr algn="ctr"/>
            <a:endParaRPr lang="en-US" altLang="ko-KR" sz="3600" b="1" dirty="0"/>
          </a:p>
          <a:p>
            <a:pPr algn="ctr"/>
            <a:endParaRPr lang="en-US" altLang="ko-KR" sz="3600" b="1" dirty="0"/>
          </a:p>
          <a:p>
            <a:r>
              <a:rPr lang="en-US" altLang="ko-KR" sz="2400" b="1" dirty="0"/>
              <a:t>  1. </a:t>
            </a:r>
            <a:r>
              <a:rPr lang="ko-KR" altLang="en-US" sz="2400" b="1" dirty="0"/>
              <a:t>저렴한 비용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기본적인 회계프로그램 구독료 </a:t>
            </a:r>
            <a:r>
              <a:rPr lang="en-US" altLang="ko-KR" sz="2400" b="1" dirty="0"/>
              <a:t>: </a:t>
            </a:r>
            <a:r>
              <a:rPr lang="ko-KR" altLang="en-US" sz="2400" b="1" dirty="0"/>
              <a:t>월 </a:t>
            </a:r>
            <a:r>
              <a:rPr lang="en-US" altLang="ko-KR" sz="2400" b="1" dirty="0"/>
              <a:t>5</a:t>
            </a:r>
            <a:r>
              <a:rPr lang="ko-KR" altLang="en-US" sz="2400" b="1" dirty="0"/>
              <a:t>만원이상</a:t>
            </a:r>
            <a:r>
              <a:rPr lang="en-US" altLang="ko-KR" sz="2400" b="1" dirty="0"/>
              <a:t>)</a:t>
            </a:r>
          </a:p>
          <a:p>
            <a:endParaRPr lang="en-US" altLang="ko-KR" sz="2400" b="1" dirty="0"/>
          </a:p>
          <a:p>
            <a:r>
              <a:rPr lang="en-US" altLang="ko-KR" sz="2400" b="1" dirty="0"/>
              <a:t>  2. </a:t>
            </a:r>
            <a:r>
              <a:rPr lang="ko-KR" altLang="en-US" sz="2400" b="1" dirty="0"/>
              <a:t>다양한 혜택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인사</a:t>
            </a:r>
            <a:r>
              <a:rPr lang="en-US" altLang="ko-KR" sz="2400" b="1" dirty="0"/>
              <a:t>+</a:t>
            </a:r>
            <a:r>
              <a:rPr lang="ko-KR" altLang="en-US" sz="2400" b="1" dirty="0"/>
              <a:t>노무 시스템의  </a:t>
            </a:r>
            <a:r>
              <a:rPr lang="en-US" altLang="ko-KR" sz="2400" b="1" dirty="0"/>
              <a:t>One-step </a:t>
            </a:r>
            <a:r>
              <a:rPr lang="ko-KR" altLang="en-US" sz="2400" b="1" dirty="0"/>
              <a:t>활용</a:t>
            </a:r>
            <a:r>
              <a:rPr lang="en-US" altLang="ko-KR" sz="2400" b="1" dirty="0"/>
              <a:t>)</a:t>
            </a:r>
          </a:p>
          <a:p>
            <a:endParaRPr lang="en-US" altLang="ko-KR" sz="2400" b="1" dirty="0"/>
          </a:p>
          <a:p>
            <a:r>
              <a:rPr lang="en-US" altLang="ko-KR" sz="2400" b="1" dirty="0"/>
              <a:t>  3. </a:t>
            </a:r>
            <a:r>
              <a:rPr lang="ko-KR" altLang="en-US" sz="2400" b="1" dirty="0"/>
              <a:t>다양한 정보의 실시간 업데이트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업무자료</a:t>
            </a:r>
            <a:r>
              <a:rPr lang="en-US" altLang="ko-KR" sz="2400" b="1" dirty="0"/>
              <a:t>)</a:t>
            </a:r>
          </a:p>
          <a:p>
            <a:endParaRPr lang="en-US" altLang="ko-KR" sz="2400" b="1" dirty="0"/>
          </a:p>
          <a:p>
            <a:r>
              <a:rPr lang="en-US" altLang="ko-KR" sz="2400" b="1" dirty="0"/>
              <a:t>  4. </a:t>
            </a:r>
            <a:r>
              <a:rPr lang="ko-KR" altLang="en-US" sz="2400" b="1" dirty="0"/>
              <a:t>기업운영에 필요한 전문가의 다이렉트 연결 </a:t>
            </a:r>
            <a:r>
              <a:rPr lang="en-US" altLang="ko-KR" sz="2400" b="1" dirty="0"/>
              <a:t>/ </a:t>
            </a:r>
            <a:r>
              <a:rPr lang="ko-KR" altLang="en-US" sz="2400" b="1" dirty="0"/>
              <a:t>상담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각 분야 전문가</a:t>
            </a:r>
            <a:r>
              <a:rPr lang="en-US" altLang="ko-KR" sz="2400" b="1" dirty="0"/>
              <a:t>)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33512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D20A4C-2BB3-AFC2-6E6B-B2FEFAAE5B74}"/>
              </a:ext>
            </a:extLst>
          </p:cNvPr>
          <p:cNvSpPr txBox="1"/>
          <p:nvPr/>
        </p:nvSpPr>
        <p:spPr>
          <a:xfrm>
            <a:off x="1514168" y="936010"/>
            <a:ext cx="9163664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altLang="ko-KR" sz="4000" b="1" dirty="0">
                <a:solidFill>
                  <a:srgbClr val="1919EF"/>
                </a:solidFill>
              </a:rPr>
              <a:t>&lt;</a:t>
            </a:r>
            <a:r>
              <a:rPr lang="ko-KR" altLang="en-US" sz="4000" b="1" dirty="0">
                <a:solidFill>
                  <a:srgbClr val="1919EF"/>
                </a:solidFill>
              </a:rPr>
              <a:t>사업장 지도점검 필수서류</a:t>
            </a:r>
            <a:r>
              <a:rPr lang="en-US" altLang="ko-KR" sz="4000" b="1" dirty="0">
                <a:solidFill>
                  <a:srgbClr val="1919EF"/>
                </a:solidFill>
              </a:rPr>
              <a:t>&gt;</a:t>
            </a:r>
          </a:p>
          <a:p>
            <a:pPr algn="ctr" fontAlgn="base"/>
            <a:endParaRPr lang="en-US" altLang="ko-KR" b="1" dirty="0"/>
          </a:p>
          <a:p>
            <a:pPr algn="ctr" fontAlgn="base"/>
            <a:endParaRPr lang="ko-KR" altLang="en-US" b="1" dirty="0"/>
          </a:p>
          <a:p>
            <a:pPr fontAlgn="base"/>
            <a:r>
              <a:rPr lang="en-US" altLang="ko-KR" sz="2800" b="1" dirty="0"/>
              <a:t>1. </a:t>
            </a:r>
            <a:r>
              <a:rPr lang="ko-KR" altLang="en-US" sz="2800" b="1" dirty="0"/>
              <a:t>근로계약서</a:t>
            </a:r>
          </a:p>
          <a:p>
            <a:pPr fontAlgn="base"/>
            <a:r>
              <a:rPr lang="en-US" altLang="ko-KR" sz="2800" b="1" dirty="0"/>
              <a:t>2. </a:t>
            </a:r>
            <a:r>
              <a:rPr lang="ko-KR" altLang="en-US" sz="2800" b="1" dirty="0"/>
              <a:t>근로자명부</a:t>
            </a:r>
          </a:p>
          <a:p>
            <a:pPr fontAlgn="base"/>
            <a:r>
              <a:rPr lang="en-US" altLang="ko-KR" sz="2800" b="1" dirty="0"/>
              <a:t>3. </a:t>
            </a:r>
            <a:r>
              <a:rPr lang="ko-KR" altLang="en-US" sz="2800" b="1" dirty="0"/>
              <a:t>근로자와 최초 계약 시 받은 서류</a:t>
            </a:r>
          </a:p>
          <a:p>
            <a:pPr fontAlgn="base"/>
            <a:r>
              <a:rPr lang="en-US" altLang="ko-KR" sz="2800" b="1" dirty="0"/>
              <a:t>4. </a:t>
            </a:r>
            <a:r>
              <a:rPr lang="ko-KR" altLang="en-US" sz="2800" b="1" dirty="0"/>
              <a:t>임금 대장</a:t>
            </a:r>
          </a:p>
          <a:p>
            <a:pPr fontAlgn="base"/>
            <a:r>
              <a:rPr lang="en-US" altLang="ko-KR" sz="2800" b="1" dirty="0"/>
              <a:t>5. </a:t>
            </a:r>
            <a:r>
              <a:rPr lang="ko-KR" altLang="en-US" sz="2800" b="1" dirty="0"/>
              <a:t>임금 대장 작성 첨부 서류</a:t>
            </a:r>
          </a:p>
          <a:p>
            <a:pPr fontAlgn="base"/>
            <a:r>
              <a:rPr lang="en-US" altLang="ko-KR" sz="2800" b="1" dirty="0"/>
              <a:t>6. </a:t>
            </a:r>
            <a:r>
              <a:rPr lang="ko-KR" altLang="en-US" sz="2800" b="1" dirty="0"/>
              <a:t>퇴직금 계산 서류</a:t>
            </a:r>
          </a:p>
          <a:p>
            <a:pPr fontAlgn="base"/>
            <a:r>
              <a:rPr lang="en-US" altLang="ko-KR" sz="2800" b="1" dirty="0"/>
              <a:t>7. </a:t>
            </a:r>
            <a:r>
              <a:rPr lang="ko-KR" altLang="en-US" sz="2800" b="1" dirty="0"/>
              <a:t>연차 휴가에 관한 근태기록 서류</a:t>
            </a:r>
          </a:p>
          <a:p>
            <a:pPr fontAlgn="base"/>
            <a:r>
              <a:rPr lang="en-US" altLang="ko-KR" sz="2800" b="1" dirty="0"/>
              <a:t>8. </a:t>
            </a:r>
            <a:r>
              <a:rPr lang="ko-KR" altLang="en-US" sz="2800" b="1" dirty="0"/>
              <a:t>연차 수당 지급 서류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8473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7A7C75-C88E-6B99-39A1-D26241206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925"/>
            <a:ext cx="12192000" cy="660897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160295A-76A6-2952-DC48-ED57690510E0}"/>
              </a:ext>
            </a:extLst>
          </p:cNvPr>
          <p:cNvSpPr/>
          <p:nvPr/>
        </p:nvSpPr>
        <p:spPr>
          <a:xfrm>
            <a:off x="5625922" y="3409410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4F763-6510-DDC8-CAAF-A2A38C17121A}"/>
              </a:ext>
            </a:extLst>
          </p:cNvPr>
          <p:cNvSpPr txBox="1"/>
          <p:nvPr/>
        </p:nvSpPr>
        <p:spPr>
          <a:xfrm>
            <a:off x="6355971" y="5168365"/>
            <a:ext cx="6290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노무관리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B8F8F4-2F14-C7D5-7D02-C7E24142B3C0}"/>
              </a:ext>
            </a:extLst>
          </p:cNvPr>
          <p:cNvSpPr txBox="1"/>
          <p:nvPr/>
        </p:nvSpPr>
        <p:spPr>
          <a:xfrm>
            <a:off x="6033136" y="3509564"/>
            <a:ext cx="12747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solidFill>
                  <a:schemeClr val="bg2">
                    <a:lumMod val="50000"/>
                  </a:schemeClr>
                </a:solidFill>
              </a:rPr>
              <a:t>Labor Management</a:t>
            </a:r>
            <a:endParaRPr lang="ko-KR" altLang="en-US" sz="9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6B0B807-5B01-5077-F201-C2EE65C06725}"/>
              </a:ext>
            </a:extLst>
          </p:cNvPr>
          <p:cNvSpPr/>
          <p:nvPr/>
        </p:nvSpPr>
        <p:spPr>
          <a:xfrm>
            <a:off x="5505992" y="3148150"/>
            <a:ext cx="2338251" cy="2390503"/>
          </a:xfrm>
          <a:prstGeom prst="rect">
            <a:avLst/>
          </a:prstGeom>
          <a:noFill/>
          <a:ln w="222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A9E6FAD-1F65-8283-E17A-27E2267F095A}"/>
              </a:ext>
            </a:extLst>
          </p:cNvPr>
          <p:cNvSpPr/>
          <p:nvPr/>
        </p:nvSpPr>
        <p:spPr>
          <a:xfrm>
            <a:off x="6096000" y="3873137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90E7875-EBC5-2F43-3EDC-E92707BE1DEF}"/>
              </a:ext>
            </a:extLst>
          </p:cNvPr>
          <p:cNvSpPr/>
          <p:nvPr/>
        </p:nvSpPr>
        <p:spPr>
          <a:xfrm>
            <a:off x="6263640" y="4049486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30F2CBF-5A01-4402-CE46-F9641FE3E78E}"/>
              </a:ext>
            </a:extLst>
          </p:cNvPr>
          <p:cNvSpPr/>
          <p:nvPr/>
        </p:nvSpPr>
        <p:spPr>
          <a:xfrm>
            <a:off x="6263640" y="4297680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418D384-89F2-38AB-1F53-C89D9E9AA011}"/>
              </a:ext>
            </a:extLst>
          </p:cNvPr>
          <p:cNvSpPr/>
          <p:nvPr/>
        </p:nvSpPr>
        <p:spPr>
          <a:xfrm>
            <a:off x="6272353" y="4417424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B73BBAA-9181-5439-BA82-1FE9E8F28AF1}"/>
              </a:ext>
            </a:extLst>
          </p:cNvPr>
          <p:cNvSpPr/>
          <p:nvPr/>
        </p:nvSpPr>
        <p:spPr>
          <a:xfrm>
            <a:off x="6272353" y="4528453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E8EA2BF-FB35-97AA-E268-EA651E6414CE}"/>
              </a:ext>
            </a:extLst>
          </p:cNvPr>
          <p:cNvSpPr/>
          <p:nvPr/>
        </p:nvSpPr>
        <p:spPr>
          <a:xfrm>
            <a:off x="6267993" y="4635135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45605E1-6984-F3DF-7D27-264DF04ED7F9}"/>
              </a:ext>
            </a:extLst>
          </p:cNvPr>
          <p:cNvSpPr/>
          <p:nvPr/>
        </p:nvSpPr>
        <p:spPr>
          <a:xfrm>
            <a:off x="1175656" y="5814060"/>
            <a:ext cx="1049384" cy="560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노무관리</a:t>
            </a:r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230F8401-0422-BD70-A6B5-AC7A74154ED8}"/>
              </a:ext>
            </a:extLst>
          </p:cNvPr>
          <p:cNvCxnSpPr>
            <a:cxnSpLocks/>
          </p:cNvCxnSpPr>
          <p:nvPr/>
        </p:nvCxnSpPr>
        <p:spPr>
          <a:xfrm>
            <a:off x="624840" y="6031774"/>
            <a:ext cx="624840" cy="587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BFBCFF7-825B-D5DB-A171-6B1B6F41051A}"/>
              </a:ext>
            </a:extLst>
          </p:cNvPr>
          <p:cNvSpPr/>
          <p:nvPr/>
        </p:nvSpPr>
        <p:spPr>
          <a:xfrm>
            <a:off x="220980" y="6016534"/>
            <a:ext cx="403860" cy="587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왼쪽 중괄호 24">
            <a:extLst>
              <a:ext uri="{FF2B5EF4-FFF2-40B4-BE49-F238E27FC236}">
                <a16:creationId xmlns:a16="http://schemas.microsoft.com/office/drawing/2014/main" id="{EBAD33FB-F88D-4A59-F447-6A2D90FFC8A1}"/>
              </a:ext>
            </a:extLst>
          </p:cNvPr>
          <p:cNvSpPr/>
          <p:nvPr/>
        </p:nvSpPr>
        <p:spPr>
          <a:xfrm>
            <a:off x="2156460" y="5638800"/>
            <a:ext cx="228600" cy="90678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DCF4EB-A627-DE02-9017-F83A51EABF1D}"/>
              </a:ext>
            </a:extLst>
          </p:cNvPr>
          <p:cNvSpPr txBox="1"/>
          <p:nvPr/>
        </p:nvSpPr>
        <p:spPr>
          <a:xfrm>
            <a:off x="2425336" y="5506134"/>
            <a:ext cx="15925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+mj-lt"/>
              </a:rPr>
              <a:t>근로계약서</a:t>
            </a:r>
            <a:endParaRPr lang="en-US" altLang="ko-KR" sz="1200" b="1" dirty="0"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1FBF99-41F7-571E-A33E-DD6798FB9CB1}"/>
              </a:ext>
            </a:extLst>
          </p:cNvPr>
          <p:cNvSpPr txBox="1"/>
          <p:nvPr/>
        </p:nvSpPr>
        <p:spPr>
          <a:xfrm>
            <a:off x="2424388" y="6393530"/>
            <a:ext cx="15925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+mj-lt"/>
              </a:rPr>
              <a:t>연차관리</a:t>
            </a:r>
            <a:endParaRPr lang="en-US" altLang="ko-KR" sz="1200" b="1" dirty="0"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64912A-8E96-A34D-29B0-99710716BF65}"/>
              </a:ext>
            </a:extLst>
          </p:cNvPr>
          <p:cNvSpPr txBox="1"/>
          <p:nvPr/>
        </p:nvSpPr>
        <p:spPr>
          <a:xfrm>
            <a:off x="2425336" y="6089749"/>
            <a:ext cx="15925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+mj-lt"/>
              </a:rPr>
              <a:t>임금대장</a:t>
            </a:r>
            <a:endParaRPr lang="en-US" altLang="ko-KR" sz="1200" b="1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4BEBF5-7D5C-7156-AB66-C2632C1E0A4A}"/>
              </a:ext>
            </a:extLst>
          </p:cNvPr>
          <p:cNvSpPr txBox="1"/>
          <p:nvPr/>
        </p:nvSpPr>
        <p:spPr>
          <a:xfrm>
            <a:off x="2430867" y="5797233"/>
            <a:ext cx="15925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+mj-lt"/>
              </a:rPr>
              <a:t>근로자명부</a:t>
            </a:r>
            <a:endParaRPr lang="en-US" altLang="ko-KR" sz="1200" b="1" dirty="0">
              <a:latin typeface="+mj-lt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9653B42-0129-4F2A-8357-082548115CF4}"/>
              </a:ext>
            </a:extLst>
          </p:cNvPr>
          <p:cNvCxnSpPr>
            <a:cxnSpLocks/>
          </p:cNvCxnSpPr>
          <p:nvPr/>
        </p:nvCxnSpPr>
        <p:spPr>
          <a:xfrm>
            <a:off x="6756400" y="4343399"/>
            <a:ext cx="1146629" cy="167313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C1AA212-39F2-008A-ACE5-DA3A46802CF4}"/>
              </a:ext>
            </a:extLst>
          </p:cNvPr>
          <p:cNvSpPr txBox="1"/>
          <p:nvPr/>
        </p:nvSpPr>
        <p:spPr>
          <a:xfrm>
            <a:off x="7903029" y="5657058"/>
            <a:ext cx="2509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FF0000"/>
                </a:solidFill>
              </a:rPr>
              <a:t>click!</a:t>
            </a:r>
            <a:endParaRPr lang="ko-KR" altLang="en-US" sz="4000" b="1" dirty="0">
              <a:solidFill>
                <a:srgbClr val="FF0000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E954D38-5202-F4C1-C310-9A11C9F36745}"/>
              </a:ext>
            </a:extLst>
          </p:cNvPr>
          <p:cNvSpPr/>
          <p:nvPr/>
        </p:nvSpPr>
        <p:spPr>
          <a:xfrm>
            <a:off x="7881438" y="3424652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B41D59-F32E-8897-E164-90F6DEC8C800}"/>
              </a:ext>
            </a:extLst>
          </p:cNvPr>
          <p:cNvSpPr txBox="1"/>
          <p:nvPr/>
        </p:nvSpPr>
        <p:spPr>
          <a:xfrm>
            <a:off x="8522587" y="5209731"/>
            <a:ext cx="799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업무자료실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BC8B21-9C51-ABCD-D122-3E70E61388D3}"/>
              </a:ext>
            </a:extLst>
          </p:cNvPr>
          <p:cNvSpPr txBox="1"/>
          <p:nvPr/>
        </p:nvSpPr>
        <p:spPr>
          <a:xfrm>
            <a:off x="8241164" y="3571247"/>
            <a:ext cx="13696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solidFill>
                  <a:schemeClr val="bg2">
                    <a:lumMod val="50000"/>
                  </a:schemeClr>
                </a:solidFill>
              </a:rPr>
              <a:t>Business</a:t>
            </a:r>
            <a:r>
              <a:rPr lang="ko-KR" altLang="en-US" sz="9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900" b="1" dirty="0">
                <a:solidFill>
                  <a:schemeClr val="bg2">
                    <a:lumMod val="50000"/>
                  </a:schemeClr>
                </a:solidFill>
              </a:rPr>
              <a:t>Data room</a:t>
            </a:r>
            <a:endParaRPr lang="ko-KR" altLang="en-US" sz="9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A16A3CC8-41F3-6A43-A8F5-BB867805C13B}"/>
              </a:ext>
            </a:extLst>
          </p:cNvPr>
          <p:cNvSpPr/>
          <p:nvPr/>
        </p:nvSpPr>
        <p:spPr>
          <a:xfrm>
            <a:off x="8351516" y="3914503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923B205-CB27-510F-6937-F0E51E56B867}"/>
              </a:ext>
            </a:extLst>
          </p:cNvPr>
          <p:cNvSpPr/>
          <p:nvPr/>
        </p:nvSpPr>
        <p:spPr>
          <a:xfrm>
            <a:off x="8525687" y="4090851"/>
            <a:ext cx="284117" cy="2525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1CF870F-3BE2-E937-FDFF-486BB43C1F24}"/>
              </a:ext>
            </a:extLst>
          </p:cNvPr>
          <p:cNvSpPr/>
          <p:nvPr/>
        </p:nvSpPr>
        <p:spPr>
          <a:xfrm>
            <a:off x="9011184" y="4086495"/>
            <a:ext cx="284117" cy="2525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69EF647-AE11-F939-B4DB-8ADBDB7DD095}"/>
              </a:ext>
            </a:extLst>
          </p:cNvPr>
          <p:cNvSpPr/>
          <p:nvPr/>
        </p:nvSpPr>
        <p:spPr>
          <a:xfrm>
            <a:off x="8530035" y="4447903"/>
            <a:ext cx="284117" cy="2525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3CB53CC-C8FB-BAC1-500C-7C1B3E659344}"/>
              </a:ext>
            </a:extLst>
          </p:cNvPr>
          <p:cNvSpPr/>
          <p:nvPr/>
        </p:nvSpPr>
        <p:spPr>
          <a:xfrm>
            <a:off x="9022072" y="4443551"/>
            <a:ext cx="284117" cy="2525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B08A87ED-F5BD-FD61-1EF4-05BBCB557F88}"/>
              </a:ext>
            </a:extLst>
          </p:cNvPr>
          <p:cNvSpPr/>
          <p:nvPr/>
        </p:nvSpPr>
        <p:spPr>
          <a:xfrm>
            <a:off x="5191760" y="3271520"/>
            <a:ext cx="2921366" cy="211228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2905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C8C6DD-78C4-0D80-2EBF-35FF7B796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925"/>
            <a:ext cx="12192000" cy="660897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207B7B17-0C70-61B0-B1BA-21BAA3E743F6}"/>
              </a:ext>
            </a:extLst>
          </p:cNvPr>
          <p:cNvSpPr/>
          <p:nvPr/>
        </p:nvSpPr>
        <p:spPr>
          <a:xfrm>
            <a:off x="1117600" y="996950"/>
            <a:ext cx="11074400" cy="5716945"/>
          </a:xfrm>
          <a:prstGeom prst="rect">
            <a:avLst/>
          </a:prstGeom>
          <a:solidFill>
            <a:srgbClr val="EDF1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E4D12E-BEAB-69AC-EF5E-B821279D7A3F}"/>
              </a:ext>
            </a:extLst>
          </p:cNvPr>
          <p:cNvSpPr/>
          <p:nvPr/>
        </p:nvSpPr>
        <p:spPr>
          <a:xfrm>
            <a:off x="1718858" y="1450159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2E4A067-26FA-EFD9-5D98-C121F6CC0B6D}"/>
              </a:ext>
            </a:extLst>
          </p:cNvPr>
          <p:cNvSpPr/>
          <p:nvPr/>
        </p:nvSpPr>
        <p:spPr>
          <a:xfrm>
            <a:off x="4052755" y="1465119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E96F81E-3DEE-C6A0-9025-F197B212E21C}"/>
              </a:ext>
            </a:extLst>
          </p:cNvPr>
          <p:cNvSpPr/>
          <p:nvPr/>
        </p:nvSpPr>
        <p:spPr>
          <a:xfrm>
            <a:off x="6363342" y="1450159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2B91B7C-91F1-3190-69C2-ECB07A18FD96}"/>
              </a:ext>
            </a:extLst>
          </p:cNvPr>
          <p:cNvSpPr/>
          <p:nvPr/>
        </p:nvSpPr>
        <p:spPr>
          <a:xfrm>
            <a:off x="8673929" y="1450158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842616F-83FD-2363-6918-0605B5D3748F}"/>
              </a:ext>
            </a:extLst>
          </p:cNvPr>
          <p:cNvSpPr/>
          <p:nvPr/>
        </p:nvSpPr>
        <p:spPr>
          <a:xfrm>
            <a:off x="2209813" y="1907172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C2B9227-565E-31BD-0AE6-520374B65EFE}"/>
              </a:ext>
            </a:extLst>
          </p:cNvPr>
          <p:cNvSpPr/>
          <p:nvPr/>
        </p:nvSpPr>
        <p:spPr>
          <a:xfrm>
            <a:off x="2377453" y="2083521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74B6D5-8A80-9849-5683-B8EFE72BAD21}"/>
              </a:ext>
            </a:extLst>
          </p:cNvPr>
          <p:cNvSpPr/>
          <p:nvPr/>
        </p:nvSpPr>
        <p:spPr>
          <a:xfrm>
            <a:off x="2377453" y="2331715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6A2C574-8582-4E0F-CF07-C940A3BB01F4}"/>
              </a:ext>
            </a:extLst>
          </p:cNvPr>
          <p:cNvSpPr/>
          <p:nvPr/>
        </p:nvSpPr>
        <p:spPr>
          <a:xfrm>
            <a:off x="2379816" y="2451459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4653944-AB55-3EAC-A47B-92DD21BA130E}"/>
              </a:ext>
            </a:extLst>
          </p:cNvPr>
          <p:cNvSpPr/>
          <p:nvPr/>
        </p:nvSpPr>
        <p:spPr>
          <a:xfrm>
            <a:off x="2379816" y="2562488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EC653AB-CFD8-29B1-8151-8702593BC052}"/>
              </a:ext>
            </a:extLst>
          </p:cNvPr>
          <p:cNvSpPr/>
          <p:nvPr/>
        </p:nvSpPr>
        <p:spPr>
          <a:xfrm>
            <a:off x="2381806" y="2669170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3A0D59-876D-80D5-03A1-C5DCF2E7D6F0}"/>
              </a:ext>
            </a:extLst>
          </p:cNvPr>
          <p:cNvSpPr txBox="1"/>
          <p:nvPr/>
        </p:nvSpPr>
        <p:spPr>
          <a:xfrm>
            <a:off x="2393586" y="1608818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근로계약서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61247D4-4084-0A02-8177-72F9A1F37B4B}"/>
              </a:ext>
            </a:extLst>
          </p:cNvPr>
          <p:cNvSpPr/>
          <p:nvPr/>
        </p:nvSpPr>
        <p:spPr>
          <a:xfrm>
            <a:off x="4536715" y="1900730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6C21F2-0BF7-5266-DD39-A7B86AF01178}"/>
              </a:ext>
            </a:extLst>
          </p:cNvPr>
          <p:cNvSpPr txBox="1"/>
          <p:nvPr/>
        </p:nvSpPr>
        <p:spPr>
          <a:xfrm>
            <a:off x="4697678" y="1582874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근로자명부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CF08A9DB-F6AA-87D9-3346-235164238B57}"/>
              </a:ext>
            </a:extLst>
          </p:cNvPr>
          <p:cNvSpPr/>
          <p:nvPr/>
        </p:nvSpPr>
        <p:spPr>
          <a:xfrm>
            <a:off x="6890429" y="1872251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0A5675-C7BC-496F-D193-2C39E4EE56CE}"/>
              </a:ext>
            </a:extLst>
          </p:cNvPr>
          <p:cNvSpPr txBox="1"/>
          <p:nvPr/>
        </p:nvSpPr>
        <p:spPr>
          <a:xfrm>
            <a:off x="7077910" y="1560014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임금대장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0C06EAE-6708-2489-3E19-19AB0207C9BC}"/>
              </a:ext>
            </a:extLst>
          </p:cNvPr>
          <p:cNvSpPr/>
          <p:nvPr/>
        </p:nvSpPr>
        <p:spPr>
          <a:xfrm>
            <a:off x="4650847" y="2090133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2E1C333-06BA-8EB6-CC4F-31BA19816A1F}"/>
              </a:ext>
            </a:extLst>
          </p:cNvPr>
          <p:cNvSpPr/>
          <p:nvPr/>
        </p:nvSpPr>
        <p:spPr>
          <a:xfrm>
            <a:off x="4646497" y="2320909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3007138-316C-759A-2B27-C465F80DE95C}"/>
              </a:ext>
            </a:extLst>
          </p:cNvPr>
          <p:cNvSpPr/>
          <p:nvPr/>
        </p:nvSpPr>
        <p:spPr>
          <a:xfrm>
            <a:off x="4642150" y="2545152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E1CBD98-371D-BC60-E84B-551322000655}"/>
              </a:ext>
            </a:extLst>
          </p:cNvPr>
          <p:cNvSpPr/>
          <p:nvPr/>
        </p:nvSpPr>
        <p:spPr>
          <a:xfrm>
            <a:off x="4894685" y="2083521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EB17BBB-43CB-D7B9-3A46-D63C7501FACD}"/>
              </a:ext>
            </a:extLst>
          </p:cNvPr>
          <p:cNvSpPr/>
          <p:nvPr/>
        </p:nvSpPr>
        <p:spPr>
          <a:xfrm>
            <a:off x="4890334" y="2314295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FDCA3DF-FC5C-3D10-6A11-B923507892F5}"/>
              </a:ext>
            </a:extLst>
          </p:cNvPr>
          <p:cNvSpPr/>
          <p:nvPr/>
        </p:nvSpPr>
        <p:spPr>
          <a:xfrm>
            <a:off x="4892514" y="2538538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5C039DA-1328-E501-4CA0-9566448D23BE}"/>
              </a:ext>
            </a:extLst>
          </p:cNvPr>
          <p:cNvSpPr/>
          <p:nvPr/>
        </p:nvSpPr>
        <p:spPr>
          <a:xfrm>
            <a:off x="7006512" y="2012712"/>
            <a:ext cx="903047" cy="6891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6207AD0-BEB7-86E5-4914-4A5EE243C8D0}"/>
              </a:ext>
            </a:extLst>
          </p:cNvPr>
          <p:cNvSpPr/>
          <p:nvPr/>
        </p:nvSpPr>
        <p:spPr>
          <a:xfrm>
            <a:off x="9159006" y="1861367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B5CCD5-284C-A9FD-B3BA-A8EE34649FC0}"/>
              </a:ext>
            </a:extLst>
          </p:cNvPr>
          <p:cNvSpPr txBox="1"/>
          <p:nvPr/>
        </p:nvSpPr>
        <p:spPr>
          <a:xfrm>
            <a:off x="9346487" y="1549130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연차관리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1C9BE11-193A-22C4-37D7-F3D8903F9EEC}"/>
              </a:ext>
            </a:extLst>
          </p:cNvPr>
          <p:cNvSpPr/>
          <p:nvPr/>
        </p:nvSpPr>
        <p:spPr>
          <a:xfrm>
            <a:off x="9266191" y="2264302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3DCFB4A-340D-2CBB-1056-2AAF3FE8FC79}"/>
              </a:ext>
            </a:extLst>
          </p:cNvPr>
          <p:cNvSpPr/>
          <p:nvPr/>
        </p:nvSpPr>
        <p:spPr>
          <a:xfrm>
            <a:off x="9262025" y="2488545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563C543-F16E-E797-3E66-17B266E76D59}"/>
              </a:ext>
            </a:extLst>
          </p:cNvPr>
          <p:cNvSpPr/>
          <p:nvPr/>
        </p:nvSpPr>
        <p:spPr>
          <a:xfrm>
            <a:off x="9508029" y="2026914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F067B67-AE86-B1A5-ECAF-A2413E87EA09}"/>
              </a:ext>
            </a:extLst>
          </p:cNvPr>
          <p:cNvSpPr/>
          <p:nvPr/>
        </p:nvSpPr>
        <p:spPr>
          <a:xfrm>
            <a:off x="9503678" y="2257688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B147224-1D8A-6747-E514-ABD95E467299}"/>
              </a:ext>
            </a:extLst>
          </p:cNvPr>
          <p:cNvSpPr/>
          <p:nvPr/>
        </p:nvSpPr>
        <p:spPr>
          <a:xfrm>
            <a:off x="9506039" y="2481931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7AD2B8E2-0915-F3A0-22C8-582D217CA7F8}"/>
              </a:ext>
            </a:extLst>
          </p:cNvPr>
          <p:cNvSpPr/>
          <p:nvPr/>
        </p:nvSpPr>
        <p:spPr>
          <a:xfrm>
            <a:off x="1350730" y="1354838"/>
            <a:ext cx="2921366" cy="211228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FE2FD017-3ABC-433E-0953-9D6F084980C3}"/>
              </a:ext>
            </a:extLst>
          </p:cNvPr>
          <p:cNvCxnSpPr>
            <a:cxnSpLocks/>
          </p:cNvCxnSpPr>
          <p:nvPr/>
        </p:nvCxnSpPr>
        <p:spPr>
          <a:xfrm>
            <a:off x="2915370" y="2426717"/>
            <a:ext cx="1413527" cy="147067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6072368-8E93-9134-7DB1-80FB15162B6A}"/>
              </a:ext>
            </a:extLst>
          </p:cNvPr>
          <p:cNvSpPr txBox="1"/>
          <p:nvPr/>
        </p:nvSpPr>
        <p:spPr>
          <a:xfrm>
            <a:off x="4073909" y="3911982"/>
            <a:ext cx="2509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FF0000"/>
                </a:solidFill>
              </a:rPr>
              <a:t>click!</a:t>
            </a:r>
            <a:endParaRPr lang="ko-KR" altLang="en-US" sz="4000" b="1" dirty="0">
              <a:solidFill>
                <a:srgbClr val="FF0000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E8F727A-87D9-C9F5-5A34-53D9B7BD4131}"/>
              </a:ext>
            </a:extLst>
          </p:cNvPr>
          <p:cNvSpPr/>
          <p:nvPr/>
        </p:nvSpPr>
        <p:spPr>
          <a:xfrm>
            <a:off x="9268551" y="2037880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0C7A2B4-D945-F5F6-B891-31DB0D9622D0}"/>
              </a:ext>
            </a:extLst>
          </p:cNvPr>
          <p:cNvSpPr/>
          <p:nvPr/>
        </p:nvSpPr>
        <p:spPr>
          <a:xfrm>
            <a:off x="1737908" y="3482159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48DA0F8-A3B2-294A-202D-E79CE4DD648B}"/>
              </a:ext>
            </a:extLst>
          </p:cNvPr>
          <p:cNvSpPr/>
          <p:nvPr/>
        </p:nvSpPr>
        <p:spPr>
          <a:xfrm>
            <a:off x="2228863" y="3939172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826AC8-B61A-E8F9-E01E-971B815A4E24}"/>
              </a:ext>
            </a:extLst>
          </p:cNvPr>
          <p:cNvSpPr txBox="1"/>
          <p:nvPr/>
        </p:nvSpPr>
        <p:spPr>
          <a:xfrm>
            <a:off x="2412636" y="3640818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취업규칙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E8459D0-0415-6221-EDE0-3C803B88C825}"/>
              </a:ext>
            </a:extLst>
          </p:cNvPr>
          <p:cNvSpPr/>
          <p:nvPr/>
        </p:nvSpPr>
        <p:spPr>
          <a:xfrm>
            <a:off x="2529853" y="4109171"/>
            <a:ext cx="568947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7050DE5-E0F5-A9F4-818A-3C1F3A9CD5C5}"/>
              </a:ext>
            </a:extLst>
          </p:cNvPr>
          <p:cNvSpPr/>
          <p:nvPr/>
        </p:nvSpPr>
        <p:spPr>
          <a:xfrm>
            <a:off x="2402853" y="4344665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D670F5B-883B-31AA-E2B7-5B9C74BA074A}"/>
              </a:ext>
            </a:extLst>
          </p:cNvPr>
          <p:cNvSpPr/>
          <p:nvPr/>
        </p:nvSpPr>
        <p:spPr>
          <a:xfrm>
            <a:off x="2409203" y="4471665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A950E-CEE4-A3DD-8C5A-74048E334E93}"/>
              </a:ext>
            </a:extLst>
          </p:cNvPr>
          <p:cNvSpPr/>
          <p:nvPr/>
        </p:nvSpPr>
        <p:spPr>
          <a:xfrm>
            <a:off x="2409203" y="4598665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A269E8A-6317-3623-1A1D-F49E0E8199F5}"/>
              </a:ext>
            </a:extLst>
          </p:cNvPr>
          <p:cNvSpPr/>
          <p:nvPr/>
        </p:nvSpPr>
        <p:spPr>
          <a:xfrm>
            <a:off x="2415553" y="4719315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687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AB63A6-1BBD-7B26-E218-CB0B5CF60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925"/>
            <a:ext cx="12192000" cy="660897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56955288-A0E1-1E27-B349-26395FCD531A}"/>
              </a:ext>
            </a:extLst>
          </p:cNvPr>
          <p:cNvSpPr/>
          <p:nvPr/>
        </p:nvSpPr>
        <p:spPr>
          <a:xfrm>
            <a:off x="1117600" y="996950"/>
            <a:ext cx="11074400" cy="5716945"/>
          </a:xfrm>
          <a:prstGeom prst="rect">
            <a:avLst/>
          </a:prstGeom>
          <a:solidFill>
            <a:srgbClr val="EDF1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4671744-ED9D-AD91-683C-462C41664743}"/>
              </a:ext>
            </a:extLst>
          </p:cNvPr>
          <p:cNvSpPr/>
          <p:nvPr/>
        </p:nvSpPr>
        <p:spPr>
          <a:xfrm>
            <a:off x="1117600" y="996949"/>
            <a:ext cx="11074400" cy="5716944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70D18CC-08EB-4EB5-6E38-E544825F1BBD}"/>
              </a:ext>
            </a:extLst>
          </p:cNvPr>
          <p:cNvSpPr/>
          <p:nvPr/>
        </p:nvSpPr>
        <p:spPr>
          <a:xfrm>
            <a:off x="1638300" y="1441450"/>
            <a:ext cx="1411877" cy="4445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근로계약서 작성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DF09BAA-E6C6-8D3D-E7B9-9A90F92594DE}"/>
              </a:ext>
            </a:extLst>
          </p:cNvPr>
          <p:cNvSpPr/>
          <p:nvPr/>
        </p:nvSpPr>
        <p:spPr>
          <a:xfrm>
            <a:off x="1319349" y="738051"/>
            <a:ext cx="953588" cy="1894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b="1" dirty="0">
                <a:solidFill>
                  <a:schemeClr val="tx1"/>
                </a:solidFill>
              </a:rPr>
              <a:t>근로계약서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446F2F8-E88E-9DE2-3B64-BAB530E07CE8}"/>
              </a:ext>
            </a:extLst>
          </p:cNvPr>
          <p:cNvSpPr/>
          <p:nvPr/>
        </p:nvSpPr>
        <p:spPr>
          <a:xfrm>
            <a:off x="3461838" y="1441450"/>
            <a:ext cx="1411877" cy="4445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근로계약서 보관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D09A953-B954-6FDA-23B7-F47BC3959984}"/>
              </a:ext>
            </a:extLst>
          </p:cNvPr>
          <p:cNvSpPr/>
          <p:nvPr/>
        </p:nvSpPr>
        <p:spPr>
          <a:xfrm>
            <a:off x="1350730" y="1080521"/>
            <a:ext cx="1817013" cy="1133636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A10D7B1-55E5-9DAD-FF1D-F90AE2E21F43}"/>
              </a:ext>
            </a:extLst>
          </p:cNvPr>
          <p:cNvCxnSpPr>
            <a:cxnSpLocks/>
          </p:cNvCxnSpPr>
          <p:nvPr/>
        </p:nvCxnSpPr>
        <p:spPr>
          <a:xfrm>
            <a:off x="2357286" y="1743830"/>
            <a:ext cx="719784" cy="91453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8A1EED8-CDB1-26DD-168F-D4D51B371A5B}"/>
              </a:ext>
            </a:extLst>
          </p:cNvPr>
          <p:cNvSpPr txBox="1"/>
          <p:nvPr/>
        </p:nvSpPr>
        <p:spPr>
          <a:xfrm>
            <a:off x="2633814" y="2516537"/>
            <a:ext cx="15608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FF0000"/>
                </a:solidFill>
              </a:rPr>
              <a:t>click!</a:t>
            </a:r>
            <a:endParaRPr lang="ko-KR" alt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3063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C828C6-0CCA-A8FC-D2B1-9D1F2E199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925"/>
            <a:ext cx="12192000" cy="660897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FBA7748-9F24-3F3E-CF4A-87B26F28580E}"/>
              </a:ext>
            </a:extLst>
          </p:cNvPr>
          <p:cNvSpPr/>
          <p:nvPr/>
        </p:nvSpPr>
        <p:spPr>
          <a:xfrm>
            <a:off x="1117600" y="1031695"/>
            <a:ext cx="11074400" cy="5716944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AB97746-5A15-2A46-0ABC-701B4092E61F}"/>
              </a:ext>
            </a:extLst>
          </p:cNvPr>
          <p:cNvSpPr/>
          <p:nvPr/>
        </p:nvSpPr>
        <p:spPr>
          <a:xfrm>
            <a:off x="1319349" y="738051"/>
            <a:ext cx="953588" cy="1894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b="1" dirty="0">
                <a:solidFill>
                  <a:schemeClr val="tx1"/>
                </a:solidFill>
              </a:rPr>
              <a:t>근로계약서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E23603E-8697-9CA5-D5EF-75945ED8971E}"/>
              </a:ext>
            </a:extLst>
          </p:cNvPr>
          <p:cNvSpPr/>
          <p:nvPr/>
        </p:nvSpPr>
        <p:spPr>
          <a:xfrm>
            <a:off x="1554480" y="1386840"/>
            <a:ext cx="718457" cy="251460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</a:rPr>
              <a:t>검색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B191320-1606-F4BF-D851-E84D171AC15E}"/>
              </a:ext>
            </a:extLst>
          </p:cNvPr>
          <p:cNvGrpSpPr/>
          <p:nvPr/>
        </p:nvGrpSpPr>
        <p:grpSpPr>
          <a:xfrm>
            <a:off x="2011680" y="1440180"/>
            <a:ext cx="135951" cy="162705"/>
            <a:chOff x="2872740" y="1531620"/>
            <a:chExt cx="135951" cy="162705"/>
          </a:xfrm>
        </p:grpSpPr>
        <p:sp>
          <p:nvSpPr>
            <p:cNvPr id="8" name="원형: 비어 있음 7">
              <a:extLst>
                <a:ext uri="{FF2B5EF4-FFF2-40B4-BE49-F238E27FC236}">
                  <a16:creationId xmlns:a16="http://schemas.microsoft.com/office/drawing/2014/main" id="{45DEC748-E636-6658-BA93-06FBD58EDF70}"/>
                </a:ext>
              </a:extLst>
            </p:cNvPr>
            <p:cNvSpPr/>
            <p:nvPr/>
          </p:nvSpPr>
          <p:spPr>
            <a:xfrm>
              <a:off x="2872740" y="1531620"/>
              <a:ext cx="106680" cy="106680"/>
            </a:xfrm>
            <a:prstGeom prst="donu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4A9375F1-0D9F-66DD-AB32-02C30E1CE1AE}"/>
                </a:ext>
              </a:extLst>
            </p:cNvPr>
            <p:cNvSpPr/>
            <p:nvPr/>
          </p:nvSpPr>
          <p:spPr>
            <a:xfrm rot="3060436">
              <a:off x="2945896" y="1631529"/>
              <a:ext cx="79872" cy="4571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E2666E0-DDD8-7F2A-51E7-C711C0C31EB5}"/>
              </a:ext>
            </a:extLst>
          </p:cNvPr>
          <p:cNvSpPr/>
          <p:nvPr/>
        </p:nvSpPr>
        <p:spPr>
          <a:xfrm>
            <a:off x="1554480" y="1630680"/>
            <a:ext cx="718457" cy="251460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</a:rPr>
              <a:t>김종필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34F53E0-0F63-D487-33A2-7F45683AA4BF}"/>
              </a:ext>
            </a:extLst>
          </p:cNvPr>
          <p:cNvCxnSpPr>
            <a:cxnSpLocks/>
          </p:cNvCxnSpPr>
          <p:nvPr/>
        </p:nvCxnSpPr>
        <p:spPr>
          <a:xfrm>
            <a:off x="2191083" y="1547150"/>
            <a:ext cx="788337" cy="61222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1CC7C87-6ADC-D1D7-93B5-94DE79DAE63B}"/>
              </a:ext>
            </a:extLst>
          </p:cNvPr>
          <p:cNvSpPr txBox="1"/>
          <p:nvPr/>
        </p:nvSpPr>
        <p:spPr>
          <a:xfrm>
            <a:off x="2979420" y="1455420"/>
            <a:ext cx="7749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찾고자 하는 이름 기입 후 검색 클릭</a:t>
            </a:r>
            <a:r>
              <a:rPr lang="en-US" altLang="ko-KR" dirty="0"/>
              <a:t>(</a:t>
            </a:r>
            <a:r>
              <a:rPr lang="ko-KR" altLang="en-US" dirty="0"/>
              <a:t>인사</a:t>
            </a:r>
            <a:r>
              <a:rPr lang="en-US" altLang="ko-KR" dirty="0"/>
              <a:t>-&gt;</a:t>
            </a:r>
            <a:r>
              <a:rPr lang="ko-KR" altLang="en-US" dirty="0"/>
              <a:t>구성원에서 </a:t>
            </a:r>
            <a:r>
              <a:rPr lang="en-US" altLang="ko-KR" dirty="0"/>
              <a:t>DB</a:t>
            </a:r>
            <a:r>
              <a:rPr lang="ko-KR" altLang="en-US" dirty="0" err="1"/>
              <a:t>끌어옴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0F6637D-949B-C1C4-AECC-10F554550F17}"/>
              </a:ext>
            </a:extLst>
          </p:cNvPr>
          <p:cNvSpPr/>
          <p:nvPr/>
        </p:nvSpPr>
        <p:spPr>
          <a:xfrm>
            <a:off x="1645920" y="2400300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이 </a:t>
            </a:r>
            <a:r>
              <a:rPr lang="ko-KR" altLang="en-US" sz="1200" b="1" dirty="0" err="1">
                <a:solidFill>
                  <a:schemeClr val="tx1"/>
                </a:solidFill>
              </a:rPr>
              <a:t>름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3CDD073-C7E7-D35D-A158-DDBFD8360E0B}"/>
              </a:ext>
            </a:extLst>
          </p:cNvPr>
          <p:cNvSpPr/>
          <p:nvPr/>
        </p:nvSpPr>
        <p:spPr>
          <a:xfrm>
            <a:off x="2621280" y="2400300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김종필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8EBF0F5-81B9-55D2-10B3-1043905411B8}"/>
              </a:ext>
            </a:extLst>
          </p:cNvPr>
          <p:cNvSpPr/>
          <p:nvPr/>
        </p:nvSpPr>
        <p:spPr>
          <a:xfrm>
            <a:off x="4015740" y="2392680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소속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C7BAE1E-9A45-04AA-386A-FC0657880A5B}"/>
              </a:ext>
            </a:extLst>
          </p:cNvPr>
          <p:cNvSpPr/>
          <p:nvPr/>
        </p:nvSpPr>
        <p:spPr>
          <a:xfrm>
            <a:off x="4991100" y="2392680"/>
            <a:ext cx="143510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영업지원본부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81117AB-0EC9-F302-D1AB-BABF7A65AD6E}"/>
              </a:ext>
            </a:extLst>
          </p:cNvPr>
          <p:cNvSpPr/>
          <p:nvPr/>
        </p:nvSpPr>
        <p:spPr>
          <a:xfrm>
            <a:off x="6888480" y="2392680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부서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2EBC891-D068-F067-2649-A5E7BF758DA4}"/>
              </a:ext>
            </a:extLst>
          </p:cNvPr>
          <p:cNvSpPr/>
          <p:nvPr/>
        </p:nvSpPr>
        <p:spPr>
          <a:xfrm>
            <a:off x="7863840" y="2392680"/>
            <a:ext cx="17068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영업부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4D69EBB-4BF3-AD72-9A66-A214F74BFE58}"/>
              </a:ext>
            </a:extLst>
          </p:cNvPr>
          <p:cNvSpPr/>
          <p:nvPr/>
        </p:nvSpPr>
        <p:spPr>
          <a:xfrm>
            <a:off x="1645920" y="2933700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직 급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27372C18-BB7E-4813-F7BC-BD749F0E1369}"/>
              </a:ext>
            </a:extLst>
          </p:cNvPr>
          <p:cNvSpPr/>
          <p:nvPr/>
        </p:nvSpPr>
        <p:spPr>
          <a:xfrm>
            <a:off x="2621280" y="2933700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본부장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6003269B-CDC7-F1E8-4098-216DA721DF60}"/>
              </a:ext>
            </a:extLst>
          </p:cNvPr>
          <p:cNvSpPr/>
          <p:nvPr/>
        </p:nvSpPr>
        <p:spPr>
          <a:xfrm>
            <a:off x="4015740" y="2933700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고용형태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9793F2E5-E2EC-6169-16BC-2E0BD049FE3A}"/>
              </a:ext>
            </a:extLst>
          </p:cNvPr>
          <p:cNvSpPr/>
          <p:nvPr/>
        </p:nvSpPr>
        <p:spPr>
          <a:xfrm>
            <a:off x="4991100" y="2933700"/>
            <a:ext cx="143510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정규직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A5361BB5-E770-4DE6-2130-31A57D36442A}"/>
              </a:ext>
            </a:extLst>
          </p:cNvPr>
          <p:cNvSpPr/>
          <p:nvPr/>
        </p:nvSpPr>
        <p:spPr>
          <a:xfrm>
            <a:off x="6903720" y="2918460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이메일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41889366-8B87-0A67-9EC5-728EDB4DFB85}"/>
              </a:ext>
            </a:extLst>
          </p:cNvPr>
          <p:cNvSpPr/>
          <p:nvPr/>
        </p:nvSpPr>
        <p:spPr>
          <a:xfrm>
            <a:off x="7879080" y="2918460"/>
            <a:ext cx="169926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kjp@naver.com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B8AFE47-6794-F875-BA0A-69362FF48C30}"/>
              </a:ext>
            </a:extLst>
          </p:cNvPr>
          <p:cNvSpPr/>
          <p:nvPr/>
        </p:nvSpPr>
        <p:spPr>
          <a:xfrm>
            <a:off x="1409700" y="4236720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기본급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8825511E-6D6E-49B1-A5C2-0D01D4890F4E}"/>
              </a:ext>
            </a:extLst>
          </p:cNvPr>
          <p:cNvSpPr/>
          <p:nvPr/>
        </p:nvSpPr>
        <p:spPr>
          <a:xfrm>
            <a:off x="2385060" y="4236720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육아수당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27FAD9D5-914D-E2E3-C9B9-E68B9C3C8109}"/>
              </a:ext>
            </a:extLst>
          </p:cNvPr>
          <p:cNvSpPr/>
          <p:nvPr/>
        </p:nvSpPr>
        <p:spPr>
          <a:xfrm>
            <a:off x="1379220" y="2179320"/>
            <a:ext cx="8618220" cy="118872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5609A16D-3C81-77CF-1442-8740BC652029}"/>
              </a:ext>
            </a:extLst>
          </p:cNvPr>
          <p:cNvCxnSpPr>
            <a:cxnSpLocks/>
          </p:cNvCxnSpPr>
          <p:nvPr/>
        </p:nvCxnSpPr>
        <p:spPr>
          <a:xfrm flipV="1">
            <a:off x="9696783" y="2526030"/>
            <a:ext cx="658797" cy="217039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260D11D-303B-EC49-8716-421096C1A486}"/>
              </a:ext>
            </a:extLst>
          </p:cNvPr>
          <p:cNvSpPr txBox="1"/>
          <p:nvPr/>
        </p:nvSpPr>
        <p:spPr>
          <a:xfrm>
            <a:off x="10355580" y="2356753"/>
            <a:ext cx="1836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자동으로 </a:t>
            </a:r>
            <a:r>
              <a:rPr lang="ko-KR" altLang="en-US" sz="1600" b="1" dirty="0" err="1"/>
              <a:t>끌어옴</a:t>
            </a:r>
            <a:endParaRPr lang="ko-KR" altLang="en-US" sz="1600" b="1" dirty="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B7C49BF9-9B6D-AD88-51D4-4A00945A7490}"/>
              </a:ext>
            </a:extLst>
          </p:cNvPr>
          <p:cNvSpPr/>
          <p:nvPr/>
        </p:nvSpPr>
        <p:spPr>
          <a:xfrm>
            <a:off x="3375660" y="4236720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차량지원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C737640-B903-522A-CC44-FCB31E1A0DEB}"/>
              </a:ext>
            </a:extLst>
          </p:cNvPr>
          <p:cNvSpPr/>
          <p:nvPr/>
        </p:nvSpPr>
        <p:spPr>
          <a:xfrm>
            <a:off x="4351020" y="4236720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식비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DFE3C090-239B-3601-8877-3FD87C1996B8}"/>
              </a:ext>
            </a:extLst>
          </p:cNvPr>
          <p:cNvSpPr/>
          <p:nvPr/>
        </p:nvSpPr>
        <p:spPr>
          <a:xfrm>
            <a:off x="5341620" y="4233148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DC4323CF-BF82-1464-5DB5-034E922FF882}"/>
              </a:ext>
            </a:extLst>
          </p:cNvPr>
          <p:cNvSpPr/>
          <p:nvPr/>
        </p:nvSpPr>
        <p:spPr>
          <a:xfrm>
            <a:off x="1257300" y="3604260"/>
            <a:ext cx="10622280" cy="0"/>
          </a:xfrm>
          <a:custGeom>
            <a:avLst/>
            <a:gdLst>
              <a:gd name="csX0" fmla="*/ 0 w 10622280"/>
              <a:gd name="csY0" fmla="*/ 0 h 0"/>
              <a:gd name="csX1" fmla="*/ 10622280 w 1062228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622280">
                <a:moveTo>
                  <a:pt x="0" y="0"/>
                </a:moveTo>
                <a:lnTo>
                  <a:pt x="10622280" y="0"/>
                </a:lnTo>
              </a:path>
            </a:pathLst>
          </a:cu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실행 단추: 앞으로 또는 다음으로 이동 4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D6A1F49-E21B-1655-7ADB-B64ADC5044EB}"/>
              </a:ext>
            </a:extLst>
          </p:cNvPr>
          <p:cNvSpPr/>
          <p:nvPr/>
        </p:nvSpPr>
        <p:spPr>
          <a:xfrm>
            <a:off x="1409700" y="3769866"/>
            <a:ext cx="326571" cy="276485"/>
          </a:xfrm>
          <a:prstGeom prst="actionButtonForwardNex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BF172E8-7BDF-B944-3D74-E234B8672246}"/>
              </a:ext>
            </a:extLst>
          </p:cNvPr>
          <p:cNvSpPr txBox="1"/>
          <p:nvPr/>
        </p:nvSpPr>
        <p:spPr>
          <a:xfrm>
            <a:off x="1743891" y="3726418"/>
            <a:ext cx="1802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급여</a:t>
            </a:r>
            <a:r>
              <a:rPr lang="en-US" altLang="ko-KR" sz="800" b="1" dirty="0"/>
              <a:t>(</a:t>
            </a:r>
            <a:r>
              <a:rPr lang="ko-KR" altLang="en-US" sz="800" b="1" dirty="0"/>
              <a:t>단위 </a:t>
            </a:r>
            <a:r>
              <a:rPr lang="en-US" altLang="ko-KR" sz="800" b="1" dirty="0"/>
              <a:t>: </a:t>
            </a:r>
            <a:r>
              <a:rPr lang="ko-KR" altLang="en-US" sz="800" b="1" dirty="0"/>
              <a:t>원</a:t>
            </a:r>
            <a:r>
              <a:rPr lang="en-US" altLang="ko-KR" sz="800" b="1" dirty="0"/>
              <a:t>)</a:t>
            </a:r>
            <a:endParaRPr lang="ko-KR" altLang="en-US" b="1" dirty="0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8A1D9111-08A2-C45C-F55A-65E52540F3C8}"/>
              </a:ext>
            </a:extLst>
          </p:cNvPr>
          <p:cNvSpPr/>
          <p:nvPr/>
        </p:nvSpPr>
        <p:spPr>
          <a:xfrm>
            <a:off x="1409700" y="4564380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4,400,000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C66C8E60-1AB0-3CE6-623C-BB50EA0FCF3F}"/>
              </a:ext>
            </a:extLst>
          </p:cNvPr>
          <p:cNvSpPr/>
          <p:nvPr/>
        </p:nvSpPr>
        <p:spPr>
          <a:xfrm>
            <a:off x="2385060" y="4564380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200,000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7730E359-0546-AFA8-C0AC-E30F8D755ADD}"/>
              </a:ext>
            </a:extLst>
          </p:cNvPr>
          <p:cNvSpPr/>
          <p:nvPr/>
        </p:nvSpPr>
        <p:spPr>
          <a:xfrm>
            <a:off x="3375660" y="4564380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200,000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03CDB0F6-A05F-D210-E02E-D53B3350D61D}"/>
              </a:ext>
            </a:extLst>
          </p:cNvPr>
          <p:cNvSpPr/>
          <p:nvPr/>
        </p:nvSpPr>
        <p:spPr>
          <a:xfrm>
            <a:off x="4351020" y="4564380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200,000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88E624D6-3421-4BA2-6A79-26284A84C868}"/>
              </a:ext>
            </a:extLst>
          </p:cNvPr>
          <p:cNvSpPr/>
          <p:nvPr/>
        </p:nvSpPr>
        <p:spPr>
          <a:xfrm>
            <a:off x="5341620" y="4560808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0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44B3A0C2-ABC9-93CE-5817-28F9FC1E7103}"/>
              </a:ext>
            </a:extLst>
          </p:cNvPr>
          <p:cNvSpPr/>
          <p:nvPr/>
        </p:nvSpPr>
        <p:spPr>
          <a:xfrm>
            <a:off x="6347460" y="4233148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90F6D377-E8CD-D66B-4037-3F944DC9AA9B}"/>
              </a:ext>
            </a:extLst>
          </p:cNvPr>
          <p:cNvSpPr/>
          <p:nvPr/>
        </p:nvSpPr>
        <p:spPr>
          <a:xfrm>
            <a:off x="6347460" y="4560808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0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AABFCA49-36D9-7520-B90C-89B0EA3D700C}"/>
              </a:ext>
            </a:extLst>
          </p:cNvPr>
          <p:cNvSpPr/>
          <p:nvPr/>
        </p:nvSpPr>
        <p:spPr>
          <a:xfrm>
            <a:off x="7345680" y="4233148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B9EF65D9-3A87-0246-AD09-4B9D614B838D}"/>
              </a:ext>
            </a:extLst>
          </p:cNvPr>
          <p:cNvSpPr/>
          <p:nvPr/>
        </p:nvSpPr>
        <p:spPr>
          <a:xfrm>
            <a:off x="7345680" y="4560808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0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97A49642-ECAE-54CD-435C-80F13885682E}"/>
              </a:ext>
            </a:extLst>
          </p:cNvPr>
          <p:cNvSpPr/>
          <p:nvPr/>
        </p:nvSpPr>
        <p:spPr>
          <a:xfrm>
            <a:off x="8328660" y="4233148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월 급여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FC6A3B42-0418-E6C8-56A4-93D64AFB0459}"/>
              </a:ext>
            </a:extLst>
          </p:cNvPr>
          <p:cNvSpPr/>
          <p:nvPr/>
        </p:nvSpPr>
        <p:spPr>
          <a:xfrm>
            <a:off x="8328660" y="4560808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5,000,000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59E94791-362C-CA78-03FC-035987FA51F1}"/>
              </a:ext>
            </a:extLst>
          </p:cNvPr>
          <p:cNvSpPr/>
          <p:nvPr/>
        </p:nvSpPr>
        <p:spPr>
          <a:xfrm>
            <a:off x="1348740" y="4130040"/>
            <a:ext cx="3947160" cy="383169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0811A735-084E-385E-238B-8A69C0E1E456}"/>
              </a:ext>
            </a:extLst>
          </p:cNvPr>
          <p:cNvSpPr/>
          <p:nvPr/>
        </p:nvSpPr>
        <p:spPr>
          <a:xfrm>
            <a:off x="5303520" y="4137660"/>
            <a:ext cx="2987040" cy="750806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E587941F-ED38-03BB-D297-2DDF61B29DC4}"/>
              </a:ext>
            </a:extLst>
          </p:cNvPr>
          <p:cNvSpPr/>
          <p:nvPr/>
        </p:nvSpPr>
        <p:spPr>
          <a:xfrm>
            <a:off x="1348740" y="4511040"/>
            <a:ext cx="3947160" cy="383169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1A9419E1-B893-9569-6AB4-661B664E27FB}"/>
              </a:ext>
            </a:extLst>
          </p:cNvPr>
          <p:cNvSpPr/>
          <p:nvPr/>
        </p:nvSpPr>
        <p:spPr>
          <a:xfrm>
            <a:off x="8290560" y="4126230"/>
            <a:ext cx="2065020" cy="750806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69BFB1BB-4F32-DADF-4D48-2C219A68DC19}"/>
              </a:ext>
            </a:extLst>
          </p:cNvPr>
          <p:cNvCxnSpPr>
            <a:cxnSpLocks/>
          </p:cNvCxnSpPr>
          <p:nvPr/>
        </p:nvCxnSpPr>
        <p:spPr>
          <a:xfrm flipV="1">
            <a:off x="3447762" y="3941312"/>
            <a:ext cx="658797" cy="217039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2C8D3CFB-66A9-B1EC-3B22-4C318F92E02E}"/>
              </a:ext>
            </a:extLst>
          </p:cNvPr>
          <p:cNvSpPr txBox="1"/>
          <p:nvPr/>
        </p:nvSpPr>
        <p:spPr>
          <a:xfrm>
            <a:off x="4106559" y="3745229"/>
            <a:ext cx="1836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기본설정</a:t>
            </a: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D55311D5-93EB-B006-5248-0E62D07B9373}"/>
              </a:ext>
            </a:extLst>
          </p:cNvPr>
          <p:cNvCxnSpPr>
            <a:cxnSpLocks/>
          </p:cNvCxnSpPr>
          <p:nvPr/>
        </p:nvCxnSpPr>
        <p:spPr>
          <a:xfrm>
            <a:off x="3356943" y="4824874"/>
            <a:ext cx="472107" cy="260247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E59BFCB3-85B9-5C84-8748-6645897958A7}"/>
              </a:ext>
            </a:extLst>
          </p:cNvPr>
          <p:cNvSpPr txBox="1"/>
          <p:nvPr/>
        </p:nvSpPr>
        <p:spPr>
          <a:xfrm>
            <a:off x="3872230" y="4954045"/>
            <a:ext cx="1836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직접입력</a:t>
            </a: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0E487D0E-7D7C-6849-2E50-299F18831A96}"/>
              </a:ext>
            </a:extLst>
          </p:cNvPr>
          <p:cNvCxnSpPr>
            <a:cxnSpLocks/>
          </p:cNvCxnSpPr>
          <p:nvPr/>
        </p:nvCxnSpPr>
        <p:spPr>
          <a:xfrm flipV="1">
            <a:off x="6675453" y="3955971"/>
            <a:ext cx="658797" cy="217039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DBFD464A-EA8B-74C1-38C3-D9EBF1D2721F}"/>
              </a:ext>
            </a:extLst>
          </p:cNvPr>
          <p:cNvSpPr txBox="1"/>
          <p:nvPr/>
        </p:nvSpPr>
        <p:spPr>
          <a:xfrm>
            <a:off x="7334250" y="3759888"/>
            <a:ext cx="1836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/>
              <a:t>필요시 직접입력</a:t>
            </a:r>
            <a:endParaRPr lang="ko-KR" altLang="en-US" sz="1600" b="1" dirty="0"/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C8E5D722-F8E5-D98F-2346-1937838F34C7}"/>
              </a:ext>
            </a:extLst>
          </p:cNvPr>
          <p:cNvCxnSpPr>
            <a:cxnSpLocks/>
          </p:cNvCxnSpPr>
          <p:nvPr/>
        </p:nvCxnSpPr>
        <p:spPr>
          <a:xfrm flipV="1">
            <a:off x="10235898" y="4313992"/>
            <a:ext cx="658797" cy="217039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FEC702FA-FDCD-1C60-0B50-000BFB538155}"/>
              </a:ext>
            </a:extLst>
          </p:cNvPr>
          <p:cNvSpPr txBox="1"/>
          <p:nvPr/>
        </p:nvSpPr>
        <p:spPr>
          <a:xfrm>
            <a:off x="10843260" y="4158351"/>
            <a:ext cx="1836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자동합산</a:t>
            </a:r>
            <a:endParaRPr lang="ko-KR" altLang="en-US" sz="1600" b="1" dirty="0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3EA82283-AAC9-BD1D-5D6A-3ED5D821E9F4}"/>
              </a:ext>
            </a:extLst>
          </p:cNvPr>
          <p:cNvSpPr/>
          <p:nvPr/>
        </p:nvSpPr>
        <p:spPr>
          <a:xfrm>
            <a:off x="9296400" y="4236720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연봉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92DB0740-292B-2D9B-9A2A-FD2B9765E49D}"/>
              </a:ext>
            </a:extLst>
          </p:cNvPr>
          <p:cNvSpPr/>
          <p:nvPr/>
        </p:nvSpPr>
        <p:spPr>
          <a:xfrm>
            <a:off x="9296400" y="4564380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60,000,000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77" name="실행 단추: 앞으로 또는 다음으로 이동 7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17FAB27-BAA7-88AC-03C1-4BCC2B85E08F}"/>
              </a:ext>
            </a:extLst>
          </p:cNvPr>
          <p:cNvSpPr/>
          <p:nvPr/>
        </p:nvSpPr>
        <p:spPr>
          <a:xfrm>
            <a:off x="1394460" y="5217666"/>
            <a:ext cx="326571" cy="276485"/>
          </a:xfrm>
          <a:prstGeom prst="actionButtonForwardNex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750521C-B7E0-A9BE-6E38-EC2370E66330}"/>
              </a:ext>
            </a:extLst>
          </p:cNvPr>
          <p:cNvSpPr txBox="1"/>
          <p:nvPr/>
        </p:nvSpPr>
        <p:spPr>
          <a:xfrm>
            <a:off x="1728651" y="5174218"/>
            <a:ext cx="1802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근무조건</a:t>
            </a:r>
            <a:endParaRPr lang="ko-KR" altLang="en-US" b="1" dirty="0"/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493966DF-1890-9861-9983-C5F33249944F}"/>
              </a:ext>
            </a:extLst>
          </p:cNvPr>
          <p:cNvSpPr/>
          <p:nvPr/>
        </p:nvSpPr>
        <p:spPr>
          <a:xfrm>
            <a:off x="2379980" y="5631180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근무시작시간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CC67F4AD-1016-7A67-16BE-28E4FF1F310A}"/>
              </a:ext>
            </a:extLst>
          </p:cNvPr>
          <p:cNvSpPr/>
          <p:nvPr/>
        </p:nvSpPr>
        <p:spPr>
          <a:xfrm>
            <a:off x="6327140" y="5640705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근무종료시간</a:t>
            </a: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11FA3956-C35C-561E-EDBC-F4DD4A1F9C19}"/>
              </a:ext>
            </a:extLst>
          </p:cNvPr>
          <p:cNvSpPr/>
          <p:nvPr/>
        </p:nvSpPr>
        <p:spPr>
          <a:xfrm>
            <a:off x="7317740" y="5640705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err="1">
                <a:solidFill>
                  <a:schemeClr val="tx1"/>
                </a:solidFill>
              </a:rPr>
              <a:t>휴계시작시간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C687E7EB-9CC6-758E-C90D-F55E1358913C}"/>
              </a:ext>
            </a:extLst>
          </p:cNvPr>
          <p:cNvSpPr/>
          <p:nvPr/>
        </p:nvSpPr>
        <p:spPr>
          <a:xfrm>
            <a:off x="8293100" y="5640705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err="1">
                <a:solidFill>
                  <a:schemeClr val="tx1"/>
                </a:solidFill>
              </a:rPr>
              <a:t>휴계종료시간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A6412FCB-C3FC-0FED-EA12-E3124DE02DC2}"/>
              </a:ext>
            </a:extLst>
          </p:cNvPr>
          <p:cNvSpPr/>
          <p:nvPr/>
        </p:nvSpPr>
        <p:spPr>
          <a:xfrm>
            <a:off x="2379980" y="5958840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81CAAB16-0AF9-6C60-0C23-A9B9F2CDACC0}"/>
              </a:ext>
            </a:extLst>
          </p:cNvPr>
          <p:cNvSpPr/>
          <p:nvPr/>
        </p:nvSpPr>
        <p:spPr>
          <a:xfrm>
            <a:off x="6327140" y="5968365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05A8B5B8-3C59-E163-4CFE-C87AD775ED9D}"/>
              </a:ext>
            </a:extLst>
          </p:cNvPr>
          <p:cNvSpPr/>
          <p:nvPr/>
        </p:nvSpPr>
        <p:spPr>
          <a:xfrm>
            <a:off x="7317740" y="5968365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5278D4D7-2B1A-46F5-437F-415DF8A7FBA0}"/>
              </a:ext>
            </a:extLst>
          </p:cNvPr>
          <p:cNvSpPr/>
          <p:nvPr/>
        </p:nvSpPr>
        <p:spPr>
          <a:xfrm>
            <a:off x="8293100" y="5968365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D68B4B27-7E82-648D-0EC3-743603A3E059}"/>
              </a:ext>
            </a:extLst>
          </p:cNvPr>
          <p:cNvSpPr/>
          <p:nvPr/>
        </p:nvSpPr>
        <p:spPr>
          <a:xfrm>
            <a:off x="9268460" y="5640705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임금지급일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16147F09-5CD0-F601-43E0-54BD18693C14}"/>
              </a:ext>
            </a:extLst>
          </p:cNvPr>
          <p:cNvSpPr/>
          <p:nvPr/>
        </p:nvSpPr>
        <p:spPr>
          <a:xfrm>
            <a:off x="10243820" y="5640705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수습기간</a:t>
            </a: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E1D8C842-17C8-C56C-9119-84C558829AE8}"/>
              </a:ext>
            </a:extLst>
          </p:cNvPr>
          <p:cNvSpPr/>
          <p:nvPr/>
        </p:nvSpPr>
        <p:spPr>
          <a:xfrm>
            <a:off x="3357245" y="5640705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근로계약형태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35213C20-36A2-3931-63FE-44CAFBCBB4F7}"/>
              </a:ext>
            </a:extLst>
          </p:cNvPr>
          <p:cNvSpPr/>
          <p:nvPr/>
        </p:nvSpPr>
        <p:spPr>
          <a:xfrm>
            <a:off x="4342130" y="5631180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근로계약기간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06630818-9525-F6E3-420D-4F6E64433F52}"/>
              </a:ext>
            </a:extLst>
          </p:cNvPr>
          <p:cNvSpPr/>
          <p:nvPr/>
        </p:nvSpPr>
        <p:spPr>
          <a:xfrm>
            <a:off x="9268460" y="5968365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30F64695-C825-9522-BF5D-E3D1A586E9A5}"/>
              </a:ext>
            </a:extLst>
          </p:cNvPr>
          <p:cNvSpPr/>
          <p:nvPr/>
        </p:nvSpPr>
        <p:spPr>
          <a:xfrm>
            <a:off x="10243820" y="5968365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7A651672-1AFD-8E81-0807-8EB8B7B338BC}"/>
              </a:ext>
            </a:extLst>
          </p:cNvPr>
          <p:cNvSpPr/>
          <p:nvPr/>
        </p:nvSpPr>
        <p:spPr>
          <a:xfrm>
            <a:off x="3357245" y="5968365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B11F7EB7-12EF-9645-3501-DBDF884951CA}"/>
              </a:ext>
            </a:extLst>
          </p:cNvPr>
          <p:cNvSpPr/>
          <p:nvPr/>
        </p:nvSpPr>
        <p:spPr>
          <a:xfrm>
            <a:off x="4342130" y="5958840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95" name="순서도: 병합 94">
            <a:extLst>
              <a:ext uri="{FF2B5EF4-FFF2-40B4-BE49-F238E27FC236}">
                <a16:creationId xmlns:a16="http://schemas.microsoft.com/office/drawing/2014/main" id="{24C01F53-ED91-8D3A-4798-9DEEFB226889}"/>
              </a:ext>
            </a:extLst>
          </p:cNvPr>
          <p:cNvSpPr/>
          <p:nvPr/>
        </p:nvSpPr>
        <p:spPr>
          <a:xfrm>
            <a:off x="3042920" y="6012179"/>
            <a:ext cx="155988" cy="138915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순서도: 병합 95">
            <a:extLst>
              <a:ext uri="{FF2B5EF4-FFF2-40B4-BE49-F238E27FC236}">
                <a16:creationId xmlns:a16="http://schemas.microsoft.com/office/drawing/2014/main" id="{391F4393-DCAE-4F6C-A2CD-598F1D8BA69B}"/>
              </a:ext>
            </a:extLst>
          </p:cNvPr>
          <p:cNvSpPr/>
          <p:nvPr/>
        </p:nvSpPr>
        <p:spPr>
          <a:xfrm>
            <a:off x="7020560" y="6021704"/>
            <a:ext cx="155988" cy="138915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순서도: 병합 96">
            <a:extLst>
              <a:ext uri="{FF2B5EF4-FFF2-40B4-BE49-F238E27FC236}">
                <a16:creationId xmlns:a16="http://schemas.microsoft.com/office/drawing/2014/main" id="{833AADE2-E71C-294A-31AF-134EF9402512}"/>
              </a:ext>
            </a:extLst>
          </p:cNvPr>
          <p:cNvSpPr/>
          <p:nvPr/>
        </p:nvSpPr>
        <p:spPr>
          <a:xfrm>
            <a:off x="8018780" y="6021704"/>
            <a:ext cx="155988" cy="138915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순서도: 병합 97">
            <a:extLst>
              <a:ext uri="{FF2B5EF4-FFF2-40B4-BE49-F238E27FC236}">
                <a16:creationId xmlns:a16="http://schemas.microsoft.com/office/drawing/2014/main" id="{92BB0388-1848-E2D5-327A-92FB68C269EC}"/>
              </a:ext>
            </a:extLst>
          </p:cNvPr>
          <p:cNvSpPr/>
          <p:nvPr/>
        </p:nvSpPr>
        <p:spPr>
          <a:xfrm>
            <a:off x="9001760" y="6006464"/>
            <a:ext cx="155988" cy="138915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9548FE8-CA24-D436-D7B6-1099E1BC3E33}"/>
              </a:ext>
            </a:extLst>
          </p:cNvPr>
          <p:cNvSpPr/>
          <p:nvPr/>
        </p:nvSpPr>
        <p:spPr>
          <a:xfrm>
            <a:off x="1408430" y="5631180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종사업무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B0B443E-0F4B-A314-6793-F75D3E5813A3}"/>
              </a:ext>
            </a:extLst>
          </p:cNvPr>
          <p:cNvSpPr/>
          <p:nvPr/>
        </p:nvSpPr>
        <p:spPr>
          <a:xfrm>
            <a:off x="1408430" y="5958840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3" name="순서도: 병합 12">
            <a:extLst>
              <a:ext uri="{FF2B5EF4-FFF2-40B4-BE49-F238E27FC236}">
                <a16:creationId xmlns:a16="http://schemas.microsoft.com/office/drawing/2014/main" id="{61DE5548-60E1-B28F-863B-4C0613BF6EC8}"/>
              </a:ext>
            </a:extLst>
          </p:cNvPr>
          <p:cNvSpPr/>
          <p:nvPr/>
        </p:nvSpPr>
        <p:spPr>
          <a:xfrm>
            <a:off x="9947910" y="6019164"/>
            <a:ext cx="155988" cy="138915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순서도: 병합 15">
            <a:extLst>
              <a:ext uri="{FF2B5EF4-FFF2-40B4-BE49-F238E27FC236}">
                <a16:creationId xmlns:a16="http://schemas.microsoft.com/office/drawing/2014/main" id="{5FE8F67D-F77C-895F-9845-6BA50BBCC846}"/>
              </a:ext>
            </a:extLst>
          </p:cNvPr>
          <p:cNvSpPr/>
          <p:nvPr/>
        </p:nvSpPr>
        <p:spPr>
          <a:xfrm>
            <a:off x="10919460" y="6012814"/>
            <a:ext cx="155988" cy="138915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순서도: 병합 17">
            <a:extLst>
              <a:ext uri="{FF2B5EF4-FFF2-40B4-BE49-F238E27FC236}">
                <a16:creationId xmlns:a16="http://schemas.microsoft.com/office/drawing/2014/main" id="{A92E8AD7-082F-4C2E-CA58-B494FA365E73}"/>
              </a:ext>
            </a:extLst>
          </p:cNvPr>
          <p:cNvSpPr/>
          <p:nvPr/>
        </p:nvSpPr>
        <p:spPr>
          <a:xfrm>
            <a:off x="4039235" y="6019164"/>
            <a:ext cx="155988" cy="138915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CA4EA32-E750-0DBC-AFEB-47C6C6ABF449}"/>
              </a:ext>
            </a:extLst>
          </p:cNvPr>
          <p:cNvSpPr/>
          <p:nvPr/>
        </p:nvSpPr>
        <p:spPr>
          <a:xfrm>
            <a:off x="5332730" y="5631180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최저시급</a:t>
            </a:r>
            <a:r>
              <a:rPr lang="en-US" altLang="ko-KR" sz="900" b="1" dirty="0">
                <a:solidFill>
                  <a:schemeClr val="tx1"/>
                </a:solidFill>
              </a:rPr>
              <a:t>(</a:t>
            </a:r>
            <a:r>
              <a:rPr lang="ko-KR" altLang="en-US" sz="900" b="1" dirty="0">
                <a:solidFill>
                  <a:schemeClr val="tx1"/>
                </a:solidFill>
              </a:rPr>
              <a:t>원</a:t>
            </a:r>
            <a:r>
              <a:rPr lang="en-US" altLang="ko-KR" sz="900" b="1" dirty="0">
                <a:solidFill>
                  <a:schemeClr val="tx1"/>
                </a:solidFill>
              </a:rPr>
              <a:t>)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C166492-3A88-23EC-3C46-4A9EC44C9F29}"/>
              </a:ext>
            </a:extLst>
          </p:cNvPr>
          <p:cNvSpPr/>
          <p:nvPr/>
        </p:nvSpPr>
        <p:spPr>
          <a:xfrm>
            <a:off x="5332730" y="5958840"/>
            <a:ext cx="906780" cy="2514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4474D96-6C3E-404B-DF71-5314CFC4CDDF}"/>
              </a:ext>
            </a:extLst>
          </p:cNvPr>
          <p:cNvSpPr/>
          <p:nvPr/>
        </p:nvSpPr>
        <p:spPr>
          <a:xfrm>
            <a:off x="1348739" y="5547360"/>
            <a:ext cx="1031241" cy="750806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B80B201-62BD-CE20-52F9-245E62703DDE}"/>
              </a:ext>
            </a:extLst>
          </p:cNvPr>
          <p:cNvCxnSpPr>
            <a:cxnSpLocks/>
          </p:cNvCxnSpPr>
          <p:nvPr/>
        </p:nvCxnSpPr>
        <p:spPr>
          <a:xfrm>
            <a:off x="1890093" y="6282199"/>
            <a:ext cx="472107" cy="260247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5167F85-7B1C-4E14-C416-DC6B1E876F06}"/>
              </a:ext>
            </a:extLst>
          </p:cNvPr>
          <p:cNvSpPr txBox="1"/>
          <p:nvPr/>
        </p:nvSpPr>
        <p:spPr>
          <a:xfrm>
            <a:off x="2405380" y="6411370"/>
            <a:ext cx="1836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직접입력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12D464D-E9A6-55B3-81CC-7558A64EA1CF}"/>
              </a:ext>
            </a:extLst>
          </p:cNvPr>
          <p:cNvSpPr/>
          <p:nvPr/>
        </p:nvSpPr>
        <p:spPr>
          <a:xfrm>
            <a:off x="5273039" y="5566410"/>
            <a:ext cx="1031241" cy="750806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073633B2-83F7-8B03-C925-4BC64FFD4DB9}"/>
              </a:ext>
            </a:extLst>
          </p:cNvPr>
          <p:cNvCxnSpPr>
            <a:cxnSpLocks/>
          </p:cNvCxnSpPr>
          <p:nvPr/>
        </p:nvCxnSpPr>
        <p:spPr>
          <a:xfrm>
            <a:off x="5814393" y="6301249"/>
            <a:ext cx="472107" cy="260247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27996B9-B1D8-84A8-D32D-59E1F2323028}"/>
              </a:ext>
            </a:extLst>
          </p:cNvPr>
          <p:cNvSpPr txBox="1"/>
          <p:nvPr/>
        </p:nvSpPr>
        <p:spPr>
          <a:xfrm>
            <a:off x="6329680" y="6430420"/>
            <a:ext cx="1836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직접입력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8D216549-677E-88F8-B8E5-D0559409D568}"/>
              </a:ext>
            </a:extLst>
          </p:cNvPr>
          <p:cNvSpPr/>
          <p:nvPr/>
        </p:nvSpPr>
        <p:spPr>
          <a:xfrm>
            <a:off x="4282439" y="5572760"/>
            <a:ext cx="1031241" cy="750806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2162BA1A-B783-8BFA-F21C-067D12777F7F}"/>
              </a:ext>
            </a:extLst>
          </p:cNvPr>
          <p:cNvCxnSpPr>
            <a:cxnSpLocks/>
          </p:cNvCxnSpPr>
          <p:nvPr/>
        </p:nvCxnSpPr>
        <p:spPr>
          <a:xfrm>
            <a:off x="4823793" y="6307599"/>
            <a:ext cx="472107" cy="260247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7FEB4369-5091-6745-1BAD-3BFC26AC9D2B}"/>
              </a:ext>
            </a:extLst>
          </p:cNvPr>
          <p:cNvSpPr txBox="1"/>
          <p:nvPr/>
        </p:nvSpPr>
        <p:spPr>
          <a:xfrm>
            <a:off x="5339080" y="6436770"/>
            <a:ext cx="1836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직접입력</a:t>
            </a: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D0D4D8E8-EF4B-B6BC-D78C-CC27CD7EF92C}"/>
              </a:ext>
            </a:extLst>
          </p:cNvPr>
          <p:cNvSpPr/>
          <p:nvPr/>
        </p:nvSpPr>
        <p:spPr>
          <a:xfrm>
            <a:off x="11216640" y="6396132"/>
            <a:ext cx="718457" cy="2514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저장하기</a:t>
            </a: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864D8FDE-2E03-7791-CC77-89E2DB80749F}"/>
              </a:ext>
            </a:extLst>
          </p:cNvPr>
          <p:cNvSpPr/>
          <p:nvPr/>
        </p:nvSpPr>
        <p:spPr>
          <a:xfrm>
            <a:off x="10447020" y="6396132"/>
            <a:ext cx="718457" cy="2514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출력하기</a:t>
            </a:r>
          </a:p>
        </p:txBody>
      </p:sp>
    </p:spTree>
    <p:extLst>
      <p:ext uri="{BB962C8B-B14F-4D97-AF65-F5344CB8AC3E}">
        <p14:creationId xmlns:p14="http://schemas.microsoft.com/office/powerpoint/2010/main" val="2848764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3423C7-5A09-0461-FF54-FFC729D9B6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88384" y="0"/>
            <a:ext cx="4840941" cy="685800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pic>
        <p:nvPicPr>
          <p:cNvPr id="5" name="그림 4" descr="텍스트, 스크린샷, 문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E24557-860D-4FAE-8FE7-140F66413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325" y="0"/>
            <a:ext cx="4833024" cy="685800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CDAE1FF8-AED9-725E-81A3-1D6D498627E1}"/>
              </a:ext>
            </a:extLst>
          </p:cNvPr>
          <p:cNvSpPr/>
          <p:nvPr/>
        </p:nvSpPr>
        <p:spPr>
          <a:xfrm>
            <a:off x="2654300" y="539750"/>
            <a:ext cx="3054350" cy="8763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7C45D2B-A9D7-7598-6D82-4EF2AD30AEE7}"/>
              </a:ext>
            </a:extLst>
          </p:cNvPr>
          <p:cNvSpPr/>
          <p:nvPr/>
        </p:nvSpPr>
        <p:spPr>
          <a:xfrm>
            <a:off x="2374900" y="2216150"/>
            <a:ext cx="1924050" cy="1397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3922ADE-91A2-9D67-E6B1-79B33049C2EB}"/>
              </a:ext>
            </a:extLst>
          </p:cNvPr>
          <p:cNvSpPr/>
          <p:nvPr/>
        </p:nvSpPr>
        <p:spPr>
          <a:xfrm>
            <a:off x="2825750" y="2355850"/>
            <a:ext cx="2597150" cy="1397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1A7E180-969C-C484-DEE5-26C7DF29FBAC}"/>
              </a:ext>
            </a:extLst>
          </p:cNvPr>
          <p:cNvSpPr/>
          <p:nvPr/>
        </p:nvSpPr>
        <p:spPr>
          <a:xfrm>
            <a:off x="2241550" y="3136900"/>
            <a:ext cx="1765300" cy="1587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B0590F8-FA80-17A8-C84E-E4A4F1C02DBF}"/>
              </a:ext>
            </a:extLst>
          </p:cNvPr>
          <p:cNvSpPr/>
          <p:nvPr/>
        </p:nvSpPr>
        <p:spPr>
          <a:xfrm>
            <a:off x="2197100" y="5086350"/>
            <a:ext cx="1765300" cy="2857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BCF12ED-D112-4E0F-DDBC-2307CEB2FF08}"/>
              </a:ext>
            </a:extLst>
          </p:cNvPr>
          <p:cNvSpPr/>
          <p:nvPr/>
        </p:nvSpPr>
        <p:spPr>
          <a:xfrm>
            <a:off x="6657041" y="615950"/>
            <a:ext cx="3937000" cy="50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FD5196-10EF-78EF-E38F-8214E10B083F}"/>
              </a:ext>
            </a:extLst>
          </p:cNvPr>
          <p:cNvSpPr/>
          <p:nvPr/>
        </p:nvSpPr>
        <p:spPr>
          <a:xfrm>
            <a:off x="7073900" y="1600200"/>
            <a:ext cx="685800" cy="152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16345D4-D2EE-B3FE-B8F1-6DC747BABEDC}"/>
              </a:ext>
            </a:extLst>
          </p:cNvPr>
          <p:cNvSpPr/>
          <p:nvPr/>
        </p:nvSpPr>
        <p:spPr>
          <a:xfrm>
            <a:off x="7575550" y="2863850"/>
            <a:ext cx="590550" cy="152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4930135-5794-C95A-89FE-53C027F449A4}"/>
              </a:ext>
            </a:extLst>
          </p:cNvPr>
          <p:cNvSpPr/>
          <p:nvPr/>
        </p:nvSpPr>
        <p:spPr>
          <a:xfrm>
            <a:off x="7289800" y="3124200"/>
            <a:ext cx="1708150" cy="152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B68860C-AF33-AE89-42C7-0A629D36CFDC}"/>
              </a:ext>
            </a:extLst>
          </p:cNvPr>
          <p:cNvSpPr/>
          <p:nvPr/>
        </p:nvSpPr>
        <p:spPr>
          <a:xfrm>
            <a:off x="7518400" y="6089650"/>
            <a:ext cx="1479550" cy="4254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428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37BEC2-B1C1-D343-E562-1DCDFC1DC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925"/>
            <a:ext cx="12192000" cy="660897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429C4DD-DC0B-BDCD-AE11-EBFE7A2AFB4A}"/>
              </a:ext>
            </a:extLst>
          </p:cNvPr>
          <p:cNvSpPr/>
          <p:nvPr/>
        </p:nvSpPr>
        <p:spPr>
          <a:xfrm>
            <a:off x="1117600" y="996950"/>
            <a:ext cx="11074400" cy="5716945"/>
          </a:xfrm>
          <a:prstGeom prst="rect">
            <a:avLst/>
          </a:prstGeom>
          <a:solidFill>
            <a:srgbClr val="EDF1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9E4E4A-0483-E346-C81B-D2F975E9ACCC}"/>
              </a:ext>
            </a:extLst>
          </p:cNvPr>
          <p:cNvSpPr/>
          <p:nvPr/>
        </p:nvSpPr>
        <p:spPr>
          <a:xfrm>
            <a:off x="1117600" y="996949"/>
            <a:ext cx="11074400" cy="5716944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24F86FB-3B31-B654-7E02-40A5530B9A41}"/>
              </a:ext>
            </a:extLst>
          </p:cNvPr>
          <p:cNvSpPr/>
          <p:nvPr/>
        </p:nvSpPr>
        <p:spPr>
          <a:xfrm>
            <a:off x="1638300" y="1441450"/>
            <a:ext cx="1411877" cy="4445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근로계약서 작성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45580A2-F909-FC2E-63AA-F079A20F9432}"/>
              </a:ext>
            </a:extLst>
          </p:cNvPr>
          <p:cNvSpPr/>
          <p:nvPr/>
        </p:nvSpPr>
        <p:spPr>
          <a:xfrm>
            <a:off x="1319349" y="738051"/>
            <a:ext cx="953588" cy="1894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b="1">
                <a:solidFill>
                  <a:schemeClr val="tx1"/>
                </a:solidFill>
              </a:rPr>
              <a:t>근로계약서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B4DABAD-B06B-A8B7-9B1B-38074DB61573}"/>
              </a:ext>
            </a:extLst>
          </p:cNvPr>
          <p:cNvSpPr/>
          <p:nvPr/>
        </p:nvSpPr>
        <p:spPr>
          <a:xfrm>
            <a:off x="3461838" y="1441450"/>
            <a:ext cx="1411877" cy="4445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근로계약서 보관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87C39055-1F00-37DA-5960-9F50FAF03E73}"/>
              </a:ext>
            </a:extLst>
          </p:cNvPr>
          <p:cNvSpPr/>
          <p:nvPr/>
        </p:nvSpPr>
        <p:spPr>
          <a:xfrm>
            <a:off x="3255730" y="1080521"/>
            <a:ext cx="1817013" cy="1133636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560C3C4-DCAF-26D9-572C-31D035FF4EF6}"/>
              </a:ext>
            </a:extLst>
          </p:cNvPr>
          <p:cNvCxnSpPr>
            <a:cxnSpLocks/>
          </p:cNvCxnSpPr>
          <p:nvPr/>
        </p:nvCxnSpPr>
        <p:spPr>
          <a:xfrm>
            <a:off x="4262286" y="1743830"/>
            <a:ext cx="719784" cy="91453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8981683-5B15-E3DD-AC3E-F3C807573758}"/>
              </a:ext>
            </a:extLst>
          </p:cNvPr>
          <p:cNvSpPr txBox="1"/>
          <p:nvPr/>
        </p:nvSpPr>
        <p:spPr>
          <a:xfrm>
            <a:off x="4538814" y="2516537"/>
            <a:ext cx="15608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FF0000"/>
                </a:solidFill>
              </a:rPr>
              <a:t>click!</a:t>
            </a:r>
            <a:endParaRPr lang="ko-KR" alt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796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8D96D1-FC56-B3A4-43F3-41EE13250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925"/>
            <a:ext cx="12192000" cy="660897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68E4391-B955-68E1-33F1-94CAA22B3D15}"/>
              </a:ext>
            </a:extLst>
          </p:cNvPr>
          <p:cNvSpPr/>
          <p:nvPr/>
        </p:nvSpPr>
        <p:spPr>
          <a:xfrm>
            <a:off x="1117600" y="996950"/>
            <a:ext cx="11074400" cy="5716945"/>
          </a:xfrm>
          <a:prstGeom prst="rect">
            <a:avLst/>
          </a:prstGeom>
          <a:solidFill>
            <a:srgbClr val="EDF1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116D0AA-702B-2F89-8B2E-985D1657E47E}"/>
              </a:ext>
            </a:extLst>
          </p:cNvPr>
          <p:cNvSpPr/>
          <p:nvPr/>
        </p:nvSpPr>
        <p:spPr>
          <a:xfrm>
            <a:off x="1718858" y="1450159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4A9365-856B-9067-CFB5-A40CA75C790F}"/>
              </a:ext>
            </a:extLst>
          </p:cNvPr>
          <p:cNvSpPr/>
          <p:nvPr/>
        </p:nvSpPr>
        <p:spPr>
          <a:xfrm>
            <a:off x="4052755" y="1465119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941554A-8759-24FF-BF41-7BF964987CC4}"/>
              </a:ext>
            </a:extLst>
          </p:cNvPr>
          <p:cNvSpPr/>
          <p:nvPr/>
        </p:nvSpPr>
        <p:spPr>
          <a:xfrm>
            <a:off x="6363342" y="1450159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005C781-949D-8DB6-C734-055809CAC204}"/>
              </a:ext>
            </a:extLst>
          </p:cNvPr>
          <p:cNvSpPr/>
          <p:nvPr/>
        </p:nvSpPr>
        <p:spPr>
          <a:xfrm>
            <a:off x="8673929" y="1450158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E117525-5703-EC41-5FEE-D2A87D19C5E6}"/>
              </a:ext>
            </a:extLst>
          </p:cNvPr>
          <p:cNvSpPr/>
          <p:nvPr/>
        </p:nvSpPr>
        <p:spPr>
          <a:xfrm>
            <a:off x="2209813" y="1907172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0D31B71-05CD-C417-79E1-0F00F0077498}"/>
              </a:ext>
            </a:extLst>
          </p:cNvPr>
          <p:cNvSpPr/>
          <p:nvPr/>
        </p:nvSpPr>
        <p:spPr>
          <a:xfrm>
            <a:off x="2377453" y="2083521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F49E02-9B30-EE96-9AC9-E203FEABF54A}"/>
              </a:ext>
            </a:extLst>
          </p:cNvPr>
          <p:cNvSpPr/>
          <p:nvPr/>
        </p:nvSpPr>
        <p:spPr>
          <a:xfrm>
            <a:off x="2377453" y="2331715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5E10E6B-B81A-3814-C8FE-687CEA005224}"/>
              </a:ext>
            </a:extLst>
          </p:cNvPr>
          <p:cNvSpPr/>
          <p:nvPr/>
        </p:nvSpPr>
        <p:spPr>
          <a:xfrm>
            <a:off x="2379816" y="2451459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67857B9-3218-238B-397A-655AED8F9692}"/>
              </a:ext>
            </a:extLst>
          </p:cNvPr>
          <p:cNvSpPr/>
          <p:nvPr/>
        </p:nvSpPr>
        <p:spPr>
          <a:xfrm>
            <a:off x="2379816" y="2562488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DB4598C-AA7A-E6C3-88CA-238B58E27896}"/>
              </a:ext>
            </a:extLst>
          </p:cNvPr>
          <p:cNvSpPr/>
          <p:nvPr/>
        </p:nvSpPr>
        <p:spPr>
          <a:xfrm>
            <a:off x="2381806" y="2669170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DF0E7C-9288-CD1F-567C-BE8696D84693}"/>
              </a:ext>
            </a:extLst>
          </p:cNvPr>
          <p:cNvSpPr txBox="1"/>
          <p:nvPr/>
        </p:nvSpPr>
        <p:spPr>
          <a:xfrm>
            <a:off x="2393586" y="1608818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근로계약서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FFF8EAB-A46A-1E54-2684-41FC2E8FA860}"/>
              </a:ext>
            </a:extLst>
          </p:cNvPr>
          <p:cNvSpPr/>
          <p:nvPr/>
        </p:nvSpPr>
        <p:spPr>
          <a:xfrm>
            <a:off x="4536715" y="1900730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3EDBED-71AE-893A-FB1A-6779DA0D60C4}"/>
              </a:ext>
            </a:extLst>
          </p:cNvPr>
          <p:cNvSpPr txBox="1"/>
          <p:nvPr/>
        </p:nvSpPr>
        <p:spPr>
          <a:xfrm>
            <a:off x="4697678" y="1582874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근로자명부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086FE83-D7D1-D059-319C-2D11666B3EA5}"/>
              </a:ext>
            </a:extLst>
          </p:cNvPr>
          <p:cNvSpPr/>
          <p:nvPr/>
        </p:nvSpPr>
        <p:spPr>
          <a:xfrm>
            <a:off x="6890429" y="1872251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B2E132-9DA8-7225-54AF-A83635540E32}"/>
              </a:ext>
            </a:extLst>
          </p:cNvPr>
          <p:cNvSpPr txBox="1"/>
          <p:nvPr/>
        </p:nvSpPr>
        <p:spPr>
          <a:xfrm>
            <a:off x="7077910" y="1560014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임금대장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26AFCBD-16E8-5DDC-D1E2-226C901810CF}"/>
              </a:ext>
            </a:extLst>
          </p:cNvPr>
          <p:cNvSpPr/>
          <p:nvPr/>
        </p:nvSpPr>
        <p:spPr>
          <a:xfrm>
            <a:off x="4650847" y="2090133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CB98406-CF4A-8783-2282-6110F635CE57}"/>
              </a:ext>
            </a:extLst>
          </p:cNvPr>
          <p:cNvSpPr/>
          <p:nvPr/>
        </p:nvSpPr>
        <p:spPr>
          <a:xfrm>
            <a:off x="4646497" y="2320909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CA46DDA-6CFC-52AC-6A7A-1A755B72761B}"/>
              </a:ext>
            </a:extLst>
          </p:cNvPr>
          <p:cNvSpPr/>
          <p:nvPr/>
        </p:nvSpPr>
        <p:spPr>
          <a:xfrm>
            <a:off x="4642150" y="2545152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ED7CFE4-9C30-F279-2B96-47A3F92B7FEF}"/>
              </a:ext>
            </a:extLst>
          </p:cNvPr>
          <p:cNvSpPr/>
          <p:nvPr/>
        </p:nvSpPr>
        <p:spPr>
          <a:xfrm>
            <a:off x="4894685" y="2083521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B9487C6-EC87-DE09-C36E-DBDFE20D9E4E}"/>
              </a:ext>
            </a:extLst>
          </p:cNvPr>
          <p:cNvSpPr/>
          <p:nvPr/>
        </p:nvSpPr>
        <p:spPr>
          <a:xfrm>
            <a:off x="4890334" y="2314295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41AB04B-94C4-59EF-4430-31F94475D6BA}"/>
              </a:ext>
            </a:extLst>
          </p:cNvPr>
          <p:cNvSpPr/>
          <p:nvPr/>
        </p:nvSpPr>
        <p:spPr>
          <a:xfrm>
            <a:off x="4892514" y="2538538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2514BCB-07B8-130C-1664-EB1E486C6561}"/>
              </a:ext>
            </a:extLst>
          </p:cNvPr>
          <p:cNvSpPr/>
          <p:nvPr/>
        </p:nvSpPr>
        <p:spPr>
          <a:xfrm>
            <a:off x="7006512" y="2012712"/>
            <a:ext cx="903047" cy="6891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ACCB87DA-4218-2785-2379-6056CD5FAFFA}"/>
              </a:ext>
            </a:extLst>
          </p:cNvPr>
          <p:cNvSpPr/>
          <p:nvPr/>
        </p:nvSpPr>
        <p:spPr>
          <a:xfrm>
            <a:off x="9159006" y="1861367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B7AD2D-8F8B-0099-0C7A-7998022EFCC3}"/>
              </a:ext>
            </a:extLst>
          </p:cNvPr>
          <p:cNvSpPr txBox="1"/>
          <p:nvPr/>
        </p:nvSpPr>
        <p:spPr>
          <a:xfrm>
            <a:off x="9346487" y="1549130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연차관리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D6E21A0-2968-470F-C0D5-7B0B8F31E562}"/>
              </a:ext>
            </a:extLst>
          </p:cNvPr>
          <p:cNvSpPr/>
          <p:nvPr/>
        </p:nvSpPr>
        <p:spPr>
          <a:xfrm>
            <a:off x="9266191" y="2264302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EEAFA80-7151-5611-CA53-AE3934C586D1}"/>
              </a:ext>
            </a:extLst>
          </p:cNvPr>
          <p:cNvSpPr/>
          <p:nvPr/>
        </p:nvSpPr>
        <p:spPr>
          <a:xfrm>
            <a:off x="9262025" y="2488545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65DDF93-1056-11BE-C8CE-B6B7A7CB31F7}"/>
              </a:ext>
            </a:extLst>
          </p:cNvPr>
          <p:cNvSpPr/>
          <p:nvPr/>
        </p:nvSpPr>
        <p:spPr>
          <a:xfrm>
            <a:off x="9508029" y="2026914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060E729-F680-6916-DA1A-465997DE4B48}"/>
              </a:ext>
            </a:extLst>
          </p:cNvPr>
          <p:cNvSpPr/>
          <p:nvPr/>
        </p:nvSpPr>
        <p:spPr>
          <a:xfrm>
            <a:off x="9503678" y="2257688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E67297F-C3C3-1BD0-87C9-DD1876C5CECD}"/>
              </a:ext>
            </a:extLst>
          </p:cNvPr>
          <p:cNvSpPr/>
          <p:nvPr/>
        </p:nvSpPr>
        <p:spPr>
          <a:xfrm>
            <a:off x="9506039" y="2481931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DB3FE8C-B069-89B3-FFDB-BBF9FC8FE105}"/>
              </a:ext>
            </a:extLst>
          </p:cNvPr>
          <p:cNvSpPr/>
          <p:nvPr/>
        </p:nvSpPr>
        <p:spPr>
          <a:xfrm>
            <a:off x="9268551" y="2037880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D46B61B0-A56A-8B85-BA89-B4DDE3196FEE}"/>
              </a:ext>
            </a:extLst>
          </p:cNvPr>
          <p:cNvSpPr/>
          <p:nvPr/>
        </p:nvSpPr>
        <p:spPr>
          <a:xfrm>
            <a:off x="3598630" y="1354838"/>
            <a:ext cx="2921366" cy="211228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6CB8589E-CF21-004D-1BAD-2F2515B9C1D8}"/>
              </a:ext>
            </a:extLst>
          </p:cNvPr>
          <p:cNvCxnSpPr>
            <a:cxnSpLocks/>
          </p:cNvCxnSpPr>
          <p:nvPr/>
        </p:nvCxnSpPr>
        <p:spPr>
          <a:xfrm>
            <a:off x="5315670" y="2426717"/>
            <a:ext cx="1157257" cy="17040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27C98CB-DEBB-BA63-831D-667931B618E6}"/>
              </a:ext>
            </a:extLst>
          </p:cNvPr>
          <p:cNvSpPr txBox="1"/>
          <p:nvPr/>
        </p:nvSpPr>
        <p:spPr>
          <a:xfrm>
            <a:off x="6032685" y="4130760"/>
            <a:ext cx="2509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FF0000"/>
                </a:solidFill>
              </a:rPr>
              <a:t>click!</a:t>
            </a:r>
            <a:endParaRPr lang="ko-KR" altLang="en-US" sz="4000" b="1" dirty="0">
              <a:solidFill>
                <a:srgbClr val="FF0000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A5471CE-E5CE-C6B4-B5C9-877CB686FBAC}"/>
              </a:ext>
            </a:extLst>
          </p:cNvPr>
          <p:cNvSpPr/>
          <p:nvPr/>
        </p:nvSpPr>
        <p:spPr>
          <a:xfrm>
            <a:off x="1737908" y="3482159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0DD7BA3-6847-BE5A-7FAA-E4446F38AAEF}"/>
              </a:ext>
            </a:extLst>
          </p:cNvPr>
          <p:cNvSpPr/>
          <p:nvPr/>
        </p:nvSpPr>
        <p:spPr>
          <a:xfrm>
            <a:off x="2228863" y="3939172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5A1742-FF91-7E6A-992C-14B7CDA2F556}"/>
              </a:ext>
            </a:extLst>
          </p:cNvPr>
          <p:cNvSpPr txBox="1"/>
          <p:nvPr/>
        </p:nvSpPr>
        <p:spPr>
          <a:xfrm>
            <a:off x="2412636" y="3640818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취업규칙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022C1B2-FA74-93D8-11C3-82D1A7DF56D8}"/>
              </a:ext>
            </a:extLst>
          </p:cNvPr>
          <p:cNvSpPr/>
          <p:nvPr/>
        </p:nvSpPr>
        <p:spPr>
          <a:xfrm>
            <a:off x="2529853" y="4109171"/>
            <a:ext cx="568947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8E128F4-3F9A-E7D0-E492-E9294928F8E9}"/>
              </a:ext>
            </a:extLst>
          </p:cNvPr>
          <p:cNvSpPr/>
          <p:nvPr/>
        </p:nvSpPr>
        <p:spPr>
          <a:xfrm>
            <a:off x="2402853" y="4344665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E3317E9-0227-FB35-75D7-34C8F272A5A5}"/>
              </a:ext>
            </a:extLst>
          </p:cNvPr>
          <p:cNvSpPr/>
          <p:nvPr/>
        </p:nvSpPr>
        <p:spPr>
          <a:xfrm>
            <a:off x="2409203" y="4471665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FEB6558-3BE5-709F-83FC-C7D1D82106A4}"/>
              </a:ext>
            </a:extLst>
          </p:cNvPr>
          <p:cNvSpPr/>
          <p:nvPr/>
        </p:nvSpPr>
        <p:spPr>
          <a:xfrm>
            <a:off x="2409203" y="4598665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F0AD2E5-30F1-9E23-65C5-AE8241411009}"/>
              </a:ext>
            </a:extLst>
          </p:cNvPr>
          <p:cNvSpPr/>
          <p:nvPr/>
        </p:nvSpPr>
        <p:spPr>
          <a:xfrm>
            <a:off x="2415553" y="4719315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155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D5197A-82E2-46D3-E1E1-D34B7F552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925"/>
            <a:ext cx="12192000" cy="660897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19F79C5-4481-091B-2EA0-F7AF2997A005}"/>
              </a:ext>
            </a:extLst>
          </p:cNvPr>
          <p:cNvSpPr/>
          <p:nvPr/>
        </p:nvSpPr>
        <p:spPr>
          <a:xfrm>
            <a:off x="1117600" y="1036131"/>
            <a:ext cx="11074400" cy="5716944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2BD38F-A8C7-FA35-AB83-ADE452361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70" y="1635431"/>
            <a:ext cx="10843260" cy="2219990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BBB3FC7-8A66-F156-B575-CEA000186FA8}"/>
              </a:ext>
            </a:extLst>
          </p:cNvPr>
          <p:cNvCxnSpPr>
            <a:cxnSpLocks/>
          </p:cNvCxnSpPr>
          <p:nvPr/>
        </p:nvCxnSpPr>
        <p:spPr>
          <a:xfrm>
            <a:off x="4881330" y="3226670"/>
            <a:ext cx="1157257" cy="17040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0DB406D-DBDB-D18B-2218-4820E014B77C}"/>
              </a:ext>
            </a:extLst>
          </p:cNvPr>
          <p:cNvSpPr txBox="1"/>
          <p:nvPr/>
        </p:nvSpPr>
        <p:spPr>
          <a:xfrm>
            <a:off x="5598344" y="4930713"/>
            <a:ext cx="57173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</a:rPr>
              <a:t>그룹웨어</a:t>
            </a:r>
            <a:r>
              <a:rPr lang="en-US" altLang="ko-KR" sz="1400" b="1" dirty="0">
                <a:solidFill>
                  <a:srgbClr val="FF0000"/>
                </a:solidFill>
              </a:rPr>
              <a:t>-&gt;</a:t>
            </a:r>
            <a:r>
              <a:rPr lang="ko-KR" altLang="en-US" sz="1400" b="1" dirty="0">
                <a:solidFill>
                  <a:srgbClr val="FF0000"/>
                </a:solidFill>
              </a:rPr>
              <a:t>인사</a:t>
            </a:r>
            <a:r>
              <a:rPr lang="en-US" altLang="ko-KR" sz="1400" b="1" dirty="0">
                <a:solidFill>
                  <a:srgbClr val="FF0000"/>
                </a:solidFill>
              </a:rPr>
              <a:t>-&gt;</a:t>
            </a:r>
            <a:r>
              <a:rPr lang="ko-KR" altLang="en-US" sz="1400" b="1" dirty="0">
                <a:solidFill>
                  <a:srgbClr val="FF0000"/>
                </a:solidFill>
              </a:rPr>
              <a:t>구성원에서 </a:t>
            </a:r>
            <a:r>
              <a:rPr lang="en-US" altLang="ko-KR" sz="1400" b="1" dirty="0">
                <a:solidFill>
                  <a:srgbClr val="FF0000"/>
                </a:solidFill>
              </a:rPr>
              <a:t>DB </a:t>
            </a:r>
            <a:r>
              <a:rPr lang="ko-KR" altLang="en-US" sz="1400" b="1" dirty="0" err="1">
                <a:solidFill>
                  <a:srgbClr val="FF0000"/>
                </a:solidFill>
              </a:rPr>
              <a:t>끌어옴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F39DD38-5D67-9EB7-1FE8-875D878DC22C}"/>
              </a:ext>
            </a:extLst>
          </p:cNvPr>
          <p:cNvSpPr/>
          <p:nvPr/>
        </p:nvSpPr>
        <p:spPr>
          <a:xfrm>
            <a:off x="952500" y="976949"/>
            <a:ext cx="10736580" cy="3536953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4A271AA6-E107-3B01-FE7A-7050A654B99F}"/>
              </a:ext>
            </a:extLst>
          </p:cNvPr>
          <p:cNvSpPr/>
          <p:nvPr/>
        </p:nvSpPr>
        <p:spPr>
          <a:xfrm>
            <a:off x="2352040" y="2316480"/>
            <a:ext cx="360680" cy="0"/>
          </a:xfrm>
          <a:custGeom>
            <a:avLst/>
            <a:gdLst>
              <a:gd name="csX0" fmla="*/ 0 w 360680"/>
              <a:gd name="csY0" fmla="*/ 0 h 0"/>
              <a:gd name="csX1" fmla="*/ 360680 w 36068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60680">
                <a:moveTo>
                  <a:pt x="0" y="0"/>
                </a:moveTo>
                <a:lnTo>
                  <a:pt x="360680" y="0"/>
                </a:lnTo>
              </a:path>
            </a:pathLst>
          </a:custGeom>
          <a:noFill/>
          <a:ln>
            <a:solidFill>
              <a:srgbClr val="1919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4408848D-1667-7130-5051-0175D2333050}"/>
              </a:ext>
            </a:extLst>
          </p:cNvPr>
          <p:cNvSpPr/>
          <p:nvPr/>
        </p:nvSpPr>
        <p:spPr>
          <a:xfrm>
            <a:off x="2357120" y="2626360"/>
            <a:ext cx="360680" cy="0"/>
          </a:xfrm>
          <a:custGeom>
            <a:avLst/>
            <a:gdLst>
              <a:gd name="csX0" fmla="*/ 0 w 360680"/>
              <a:gd name="csY0" fmla="*/ 0 h 0"/>
              <a:gd name="csX1" fmla="*/ 360680 w 36068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60680">
                <a:moveTo>
                  <a:pt x="0" y="0"/>
                </a:moveTo>
                <a:lnTo>
                  <a:pt x="360680" y="0"/>
                </a:lnTo>
              </a:path>
            </a:pathLst>
          </a:custGeom>
          <a:noFill/>
          <a:ln>
            <a:solidFill>
              <a:srgbClr val="1919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507105D4-0D9A-5BC3-7FA1-7AC773D87FC8}"/>
              </a:ext>
            </a:extLst>
          </p:cNvPr>
          <p:cNvSpPr/>
          <p:nvPr/>
        </p:nvSpPr>
        <p:spPr>
          <a:xfrm>
            <a:off x="2352040" y="2895600"/>
            <a:ext cx="360680" cy="0"/>
          </a:xfrm>
          <a:custGeom>
            <a:avLst/>
            <a:gdLst>
              <a:gd name="csX0" fmla="*/ 0 w 360680"/>
              <a:gd name="csY0" fmla="*/ 0 h 0"/>
              <a:gd name="csX1" fmla="*/ 360680 w 36068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60680">
                <a:moveTo>
                  <a:pt x="0" y="0"/>
                </a:moveTo>
                <a:lnTo>
                  <a:pt x="360680" y="0"/>
                </a:lnTo>
              </a:path>
            </a:pathLst>
          </a:custGeom>
          <a:noFill/>
          <a:ln>
            <a:solidFill>
              <a:srgbClr val="1919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165F2205-8E97-8B0E-A992-B13C9E76DC4A}"/>
              </a:ext>
            </a:extLst>
          </p:cNvPr>
          <p:cNvSpPr/>
          <p:nvPr/>
        </p:nvSpPr>
        <p:spPr>
          <a:xfrm>
            <a:off x="2352040" y="3195320"/>
            <a:ext cx="360680" cy="0"/>
          </a:xfrm>
          <a:custGeom>
            <a:avLst/>
            <a:gdLst>
              <a:gd name="csX0" fmla="*/ 0 w 360680"/>
              <a:gd name="csY0" fmla="*/ 0 h 0"/>
              <a:gd name="csX1" fmla="*/ 360680 w 36068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60680">
                <a:moveTo>
                  <a:pt x="0" y="0"/>
                </a:moveTo>
                <a:lnTo>
                  <a:pt x="360680" y="0"/>
                </a:lnTo>
              </a:path>
            </a:pathLst>
          </a:custGeom>
          <a:noFill/>
          <a:ln>
            <a:solidFill>
              <a:srgbClr val="1919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1EBEF45-B3BD-17A0-2223-E2B56FD9346C}"/>
              </a:ext>
            </a:extLst>
          </p:cNvPr>
          <p:cNvSpPr/>
          <p:nvPr/>
        </p:nvSpPr>
        <p:spPr>
          <a:xfrm>
            <a:off x="2203315" y="2093712"/>
            <a:ext cx="648098" cy="300161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8EA34AE-F362-ADC2-95A8-447781AD8119}"/>
              </a:ext>
            </a:extLst>
          </p:cNvPr>
          <p:cNvCxnSpPr>
            <a:cxnSpLocks/>
          </p:cNvCxnSpPr>
          <p:nvPr/>
        </p:nvCxnSpPr>
        <p:spPr>
          <a:xfrm>
            <a:off x="2584352" y="2316480"/>
            <a:ext cx="256735" cy="24214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53290C8-1093-6C0A-3539-61C2F1C2DC6F}"/>
              </a:ext>
            </a:extLst>
          </p:cNvPr>
          <p:cNvSpPr txBox="1"/>
          <p:nvPr/>
        </p:nvSpPr>
        <p:spPr>
          <a:xfrm>
            <a:off x="2678291" y="2499519"/>
            <a:ext cx="5567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click!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4507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번호, 평행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DC96A4-D218-4C00-62E0-436505D1E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" y="0"/>
            <a:ext cx="4859642" cy="6858000"/>
          </a:xfrm>
          <a:prstGeom prst="rect">
            <a:avLst/>
          </a:prstGeom>
          <a:ln w="12700">
            <a:solidFill>
              <a:srgbClr val="1919EF"/>
            </a:solidFill>
          </a:ln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F1244CB-600D-5F33-36D3-36BDC3744FC9}"/>
              </a:ext>
            </a:extLst>
          </p:cNvPr>
          <p:cNvSpPr/>
          <p:nvPr/>
        </p:nvSpPr>
        <p:spPr>
          <a:xfrm>
            <a:off x="3293806" y="196645"/>
            <a:ext cx="442452" cy="3048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rgbClr val="1919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저장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A7A0310-C64A-7F92-B839-D2152CEFB8F9}"/>
              </a:ext>
            </a:extLst>
          </p:cNvPr>
          <p:cNvSpPr/>
          <p:nvPr/>
        </p:nvSpPr>
        <p:spPr>
          <a:xfrm>
            <a:off x="3879447" y="201561"/>
            <a:ext cx="442452" cy="3048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rgbClr val="1919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출력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8823E11-B0A4-2162-4BFE-F3656B77F389}"/>
              </a:ext>
            </a:extLst>
          </p:cNvPr>
          <p:cNvSpPr/>
          <p:nvPr/>
        </p:nvSpPr>
        <p:spPr>
          <a:xfrm>
            <a:off x="1542288" y="1213104"/>
            <a:ext cx="792480" cy="341376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6BDA954-E541-CFDC-AB26-641B565624F2}"/>
              </a:ext>
            </a:extLst>
          </p:cNvPr>
          <p:cNvSpPr/>
          <p:nvPr/>
        </p:nvSpPr>
        <p:spPr>
          <a:xfrm>
            <a:off x="3432917" y="1213104"/>
            <a:ext cx="792480" cy="341376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F926EDD-D237-5305-B07A-B7E82C8B5BDE}"/>
              </a:ext>
            </a:extLst>
          </p:cNvPr>
          <p:cNvSpPr/>
          <p:nvPr/>
        </p:nvSpPr>
        <p:spPr>
          <a:xfrm>
            <a:off x="1542287" y="1554480"/>
            <a:ext cx="2779611" cy="304800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B696109-71EF-C98F-C5CB-D9D55E7117BF}"/>
              </a:ext>
            </a:extLst>
          </p:cNvPr>
          <p:cNvSpPr/>
          <p:nvPr/>
        </p:nvSpPr>
        <p:spPr>
          <a:xfrm>
            <a:off x="3432918" y="1853184"/>
            <a:ext cx="771144" cy="299884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09BBD2D-B5D4-4DE9-88D5-A38AAB75C519}"/>
              </a:ext>
            </a:extLst>
          </p:cNvPr>
          <p:cNvSpPr/>
          <p:nvPr/>
        </p:nvSpPr>
        <p:spPr>
          <a:xfrm>
            <a:off x="1542287" y="3602736"/>
            <a:ext cx="792480" cy="384048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281CDF7-5246-17E1-39EC-D4BC345E7C29}"/>
              </a:ext>
            </a:extLst>
          </p:cNvPr>
          <p:cNvSpPr/>
          <p:nvPr/>
        </p:nvSpPr>
        <p:spPr>
          <a:xfrm>
            <a:off x="3269420" y="3602736"/>
            <a:ext cx="1052477" cy="38404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rgbClr val="1919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39A0EAA-7BAE-E321-CA41-895A41DB07D2}"/>
              </a:ext>
            </a:extLst>
          </p:cNvPr>
          <p:cNvSpPr/>
          <p:nvPr/>
        </p:nvSpPr>
        <p:spPr>
          <a:xfrm>
            <a:off x="1542287" y="2157984"/>
            <a:ext cx="792480" cy="1444752"/>
          </a:xfrm>
          <a:prstGeom prst="roundRect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CB32E7A-2FDE-1072-33F7-C39F891BF215}"/>
              </a:ext>
            </a:extLst>
          </p:cNvPr>
          <p:cNvSpPr/>
          <p:nvPr/>
        </p:nvSpPr>
        <p:spPr>
          <a:xfrm>
            <a:off x="3273682" y="2157984"/>
            <a:ext cx="1052476" cy="1444752"/>
          </a:xfrm>
          <a:prstGeom prst="roundRect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F3081E3-DFFA-E1EB-50D7-CF7AD3B95A2B}"/>
              </a:ext>
            </a:extLst>
          </p:cNvPr>
          <p:cNvSpPr/>
          <p:nvPr/>
        </p:nvSpPr>
        <p:spPr>
          <a:xfrm>
            <a:off x="886051" y="3986784"/>
            <a:ext cx="3435846" cy="1658112"/>
          </a:xfrm>
          <a:prstGeom prst="roundRect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370B9483-5AB1-B1CE-3EBE-0D3D959D6F84}"/>
              </a:ext>
            </a:extLst>
          </p:cNvPr>
          <p:cNvSpPr/>
          <p:nvPr/>
        </p:nvSpPr>
        <p:spPr>
          <a:xfrm>
            <a:off x="3186295" y="219192"/>
            <a:ext cx="648098" cy="300161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A90C283-4EF1-99E4-92C5-CDA00A0ECD8B}"/>
              </a:ext>
            </a:extLst>
          </p:cNvPr>
          <p:cNvCxnSpPr>
            <a:cxnSpLocks/>
          </p:cNvCxnSpPr>
          <p:nvPr/>
        </p:nvCxnSpPr>
        <p:spPr>
          <a:xfrm>
            <a:off x="3567332" y="441960"/>
            <a:ext cx="256735" cy="24214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674E1E3-8C6C-C1E3-D585-C15B28D7D3A8}"/>
              </a:ext>
            </a:extLst>
          </p:cNvPr>
          <p:cNvSpPr txBox="1"/>
          <p:nvPr/>
        </p:nvSpPr>
        <p:spPr>
          <a:xfrm>
            <a:off x="3661271" y="624999"/>
            <a:ext cx="5943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FF0000"/>
                </a:solidFill>
              </a:rPr>
              <a:t>작성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b="1" dirty="0">
                <a:solidFill>
                  <a:srgbClr val="FF0000"/>
                </a:solidFill>
              </a:rPr>
              <a:t>후 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b="1" dirty="0">
                <a:solidFill>
                  <a:srgbClr val="FF0000"/>
                </a:solidFill>
              </a:rPr>
              <a:t>저장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53C4E95-CD29-583D-9058-3CB06B72B988}"/>
              </a:ext>
            </a:extLst>
          </p:cNvPr>
          <p:cNvSpPr/>
          <p:nvPr/>
        </p:nvSpPr>
        <p:spPr>
          <a:xfrm>
            <a:off x="3780655" y="219192"/>
            <a:ext cx="648098" cy="300161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533E1CC-809C-978B-37BC-B00902827C17}"/>
              </a:ext>
            </a:extLst>
          </p:cNvPr>
          <p:cNvCxnSpPr>
            <a:cxnSpLocks/>
          </p:cNvCxnSpPr>
          <p:nvPr/>
        </p:nvCxnSpPr>
        <p:spPr>
          <a:xfrm>
            <a:off x="4161692" y="441960"/>
            <a:ext cx="256735" cy="24214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607C741-7F4D-5ECC-2882-0D92221A9963}"/>
              </a:ext>
            </a:extLst>
          </p:cNvPr>
          <p:cNvSpPr txBox="1"/>
          <p:nvPr/>
        </p:nvSpPr>
        <p:spPr>
          <a:xfrm>
            <a:off x="4255631" y="624999"/>
            <a:ext cx="5567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FF0000"/>
                </a:solidFill>
              </a:rPr>
              <a:t>저장 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b="1" dirty="0">
                <a:solidFill>
                  <a:srgbClr val="FF0000"/>
                </a:solidFill>
              </a:rPr>
              <a:t>후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b="1" dirty="0">
                <a:solidFill>
                  <a:srgbClr val="FF0000"/>
                </a:solidFill>
              </a:rPr>
              <a:t>출력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A1E3FE91-D391-692D-C2DF-BAA51CFD10F4}"/>
              </a:ext>
            </a:extLst>
          </p:cNvPr>
          <p:cNvSpPr/>
          <p:nvPr/>
        </p:nvSpPr>
        <p:spPr>
          <a:xfrm>
            <a:off x="1455420" y="976866"/>
            <a:ext cx="2994857" cy="1179514"/>
          </a:xfrm>
          <a:prstGeom prst="ellipse">
            <a:avLst/>
          </a:prstGeom>
          <a:noFill/>
          <a:ln w="25400">
            <a:solidFill>
              <a:srgbClr val="1919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5FEA0704-1964-BC40-B795-03F264C5DDE8}"/>
              </a:ext>
            </a:extLst>
          </p:cNvPr>
          <p:cNvSpPr/>
          <p:nvPr/>
        </p:nvSpPr>
        <p:spPr>
          <a:xfrm>
            <a:off x="1423570" y="3597819"/>
            <a:ext cx="2994857" cy="384049"/>
          </a:xfrm>
          <a:prstGeom prst="ellipse">
            <a:avLst/>
          </a:prstGeom>
          <a:noFill/>
          <a:ln w="25400">
            <a:solidFill>
              <a:srgbClr val="1919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D86FC64D-1F3B-9F7A-E73E-84361FE725C1}"/>
              </a:ext>
            </a:extLst>
          </p:cNvPr>
          <p:cNvSpPr/>
          <p:nvPr/>
        </p:nvSpPr>
        <p:spPr>
          <a:xfrm>
            <a:off x="1394460" y="1976294"/>
            <a:ext cx="2994857" cy="1626442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E2835A7A-6A69-8A0B-8EE3-7E9DEC328D10}"/>
              </a:ext>
            </a:extLst>
          </p:cNvPr>
          <p:cNvSpPr/>
          <p:nvPr/>
        </p:nvSpPr>
        <p:spPr>
          <a:xfrm>
            <a:off x="632460" y="4003214"/>
            <a:ext cx="4179902" cy="184285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3673B64C-95ED-1B25-F683-D09C5EF0758B}"/>
              </a:ext>
            </a:extLst>
          </p:cNvPr>
          <p:cNvCxnSpPr>
            <a:cxnSpLocks/>
          </p:cNvCxnSpPr>
          <p:nvPr/>
        </p:nvCxnSpPr>
        <p:spPr>
          <a:xfrm>
            <a:off x="4460603" y="1552990"/>
            <a:ext cx="2495722" cy="409671"/>
          </a:xfrm>
          <a:prstGeom prst="straightConnector1">
            <a:avLst/>
          </a:prstGeom>
          <a:ln w="12700">
            <a:solidFill>
              <a:srgbClr val="1919E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387C9342-3B13-5D80-1328-72200E9BEF64}"/>
              </a:ext>
            </a:extLst>
          </p:cNvPr>
          <p:cNvCxnSpPr>
            <a:cxnSpLocks/>
          </p:cNvCxnSpPr>
          <p:nvPr/>
        </p:nvCxnSpPr>
        <p:spPr>
          <a:xfrm flipV="1">
            <a:off x="4428753" y="1933361"/>
            <a:ext cx="2527572" cy="1842850"/>
          </a:xfrm>
          <a:prstGeom prst="straightConnector1">
            <a:avLst/>
          </a:prstGeom>
          <a:ln w="12700">
            <a:solidFill>
              <a:srgbClr val="1919E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34A9E94-6CB4-E30D-5D2D-301BEAAE3C98}"/>
              </a:ext>
            </a:extLst>
          </p:cNvPr>
          <p:cNvSpPr/>
          <p:nvPr/>
        </p:nvSpPr>
        <p:spPr>
          <a:xfrm>
            <a:off x="6995760" y="1307689"/>
            <a:ext cx="3967207" cy="1366685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/>
              <a:t>자동으로 끌고 옴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2FEA7BBB-A47E-EF2B-0705-E68C1CA2FF98}"/>
              </a:ext>
            </a:extLst>
          </p:cNvPr>
          <p:cNvCxnSpPr/>
          <p:nvPr/>
        </p:nvCxnSpPr>
        <p:spPr>
          <a:xfrm>
            <a:off x="4418427" y="2802194"/>
            <a:ext cx="2537898" cy="181896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ACD8FB0B-8E21-0E35-936F-71F25B815126}"/>
              </a:ext>
            </a:extLst>
          </p:cNvPr>
          <p:cNvCxnSpPr>
            <a:stCxn id="29" idx="6"/>
          </p:cNvCxnSpPr>
          <p:nvPr/>
        </p:nvCxnSpPr>
        <p:spPr>
          <a:xfrm flipV="1">
            <a:off x="4812362" y="4630994"/>
            <a:ext cx="2143963" cy="29364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137BE1C-392A-31E7-5259-084490DB5071}"/>
              </a:ext>
            </a:extLst>
          </p:cNvPr>
          <p:cNvSpPr/>
          <p:nvPr/>
        </p:nvSpPr>
        <p:spPr>
          <a:xfrm>
            <a:off x="7010508" y="3918156"/>
            <a:ext cx="3967207" cy="1366685"/>
          </a:xfrm>
          <a:prstGeom prst="rect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/>
              <a:t>수기로 작성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096150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8E3608-157E-975C-EC3C-EFDA90527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925"/>
            <a:ext cx="12192000" cy="660897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D8044FF-53FA-E70B-7531-DBA108C476DB}"/>
              </a:ext>
            </a:extLst>
          </p:cNvPr>
          <p:cNvSpPr/>
          <p:nvPr/>
        </p:nvSpPr>
        <p:spPr>
          <a:xfrm>
            <a:off x="1117600" y="996950"/>
            <a:ext cx="11074400" cy="5716945"/>
          </a:xfrm>
          <a:prstGeom prst="rect">
            <a:avLst/>
          </a:prstGeom>
          <a:solidFill>
            <a:srgbClr val="EDF1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4F81DA3-698F-23CA-F255-65D3FB7531A4}"/>
              </a:ext>
            </a:extLst>
          </p:cNvPr>
          <p:cNvSpPr/>
          <p:nvPr/>
        </p:nvSpPr>
        <p:spPr>
          <a:xfrm>
            <a:off x="1718858" y="1450159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D6050E-2936-DC8A-C1C2-0945316AC535}"/>
              </a:ext>
            </a:extLst>
          </p:cNvPr>
          <p:cNvSpPr/>
          <p:nvPr/>
        </p:nvSpPr>
        <p:spPr>
          <a:xfrm>
            <a:off x="4052755" y="1465119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7770942-FA31-AD60-C9DD-D66FF6CDA7AF}"/>
              </a:ext>
            </a:extLst>
          </p:cNvPr>
          <p:cNvSpPr/>
          <p:nvPr/>
        </p:nvSpPr>
        <p:spPr>
          <a:xfrm>
            <a:off x="6363342" y="1450159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E1023E3-743E-AC58-980F-BF13CF960882}"/>
              </a:ext>
            </a:extLst>
          </p:cNvPr>
          <p:cNvSpPr/>
          <p:nvPr/>
        </p:nvSpPr>
        <p:spPr>
          <a:xfrm>
            <a:off x="8673929" y="1450158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85BBB23-37F1-D2B4-D19D-6B70E13615AE}"/>
              </a:ext>
            </a:extLst>
          </p:cNvPr>
          <p:cNvSpPr/>
          <p:nvPr/>
        </p:nvSpPr>
        <p:spPr>
          <a:xfrm>
            <a:off x="2209813" y="1907172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9D91DF0-B3E7-CC4B-DB76-C73FA0E5FD22}"/>
              </a:ext>
            </a:extLst>
          </p:cNvPr>
          <p:cNvSpPr/>
          <p:nvPr/>
        </p:nvSpPr>
        <p:spPr>
          <a:xfrm>
            <a:off x="2377453" y="2083521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D3BAADA-DE5A-DCCF-8B15-FD0A1A2CABD3}"/>
              </a:ext>
            </a:extLst>
          </p:cNvPr>
          <p:cNvSpPr/>
          <p:nvPr/>
        </p:nvSpPr>
        <p:spPr>
          <a:xfrm>
            <a:off x="2377453" y="2331715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0DC5957-9835-797D-B513-100541A40726}"/>
              </a:ext>
            </a:extLst>
          </p:cNvPr>
          <p:cNvSpPr/>
          <p:nvPr/>
        </p:nvSpPr>
        <p:spPr>
          <a:xfrm>
            <a:off x="2379816" y="2451459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6E1DA80-BD3F-FC11-B065-C0E43F12C377}"/>
              </a:ext>
            </a:extLst>
          </p:cNvPr>
          <p:cNvSpPr/>
          <p:nvPr/>
        </p:nvSpPr>
        <p:spPr>
          <a:xfrm>
            <a:off x="2379816" y="2562488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4AFA991-A03A-6975-4142-8D96649311DA}"/>
              </a:ext>
            </a:extLst>
          </p:cNvPr>
          <p:cNvSpPr/>
          <p:nvPr/>
        </p:nvSpPr>
        <p:spPr>
          <a:xfrm>
            <a:off x="2381806" y="2669170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459259-7B5F-4320-924A-132398C4B03A}"/>
              </a:ext>
            </a:extLst>
          </p:cNvPr>
          <p:cNvSpPr txBox="1"/>
          <p:nvPr/>
        </p:nvSpPr>
        <p:spPr>
          <a:xfrm>
            <a:off x="2393586" y="1608818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근로계약서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E3D5770-D843-1D83-24C1-B1834DD56A3E}"/>
              </a:ext>
            </a:extLst>
          </p:cNvPr>
          <p:cNvSpPr/>
          <p:nvPr/>
        </p:nvSpPr>
        <p:spPr>
          <a:xfrm>
            <a:off x="4536715" y="1900730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14A938-74D3-BF99-03BB-1ABAFE3497FE}"/>
              </a:ext>
            </a:extLst>
          </p:cNvPr>
          <p:cNvSpPr txBox="1"/>
          <p:nvPr/>
        </p:nvSpPr>
        <p:spPr>
          <a:xfrm>
            <a:off x="4697678" y="1582874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근로자명부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DEC74AF-E2F9-4474-7AE2-D029C4C50DB9}"/>
              </a:ext>
            </a:extLst>
          </p:cNvPr>
          <p:cNvSpPr/>
          <p:nvPr/>
        </p:nvSpPr>
        <p:spPr>
          <a:xfrm>
            <a:off x="6890429" y="1872251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0D9CFA-BC9B-BCAD-B2AF-D867FEE3BB34}"/>
              </a:ext>
            </a:extLst>
          </p:cNvPr>
          <p:cNvSpPr txBox="1"/>
          <p:nvPr/>
        </p:nvSpPr>
        <p:spPr>
          <a:xfrm>
            <a:off x="7077910" y="1560014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임금대장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D5CCBDD-309E-CFA7-E3E1-5A06420CEFF0}"/>
              </a:ext>
            </a:extLst>
          </p:cNvPr>
          <p:cNvSpPr/>
          <p:nvPr/>
        </p:nvSpPr>
        <p:spPr>
          <a:xfrm>
            <a:off x="4650847" y="2090133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4C9819D-D0AA-CAE8-E29A-D59AC24504AB}"/>
              </a:ext>
            </a:extLst>
          </p:cNvPr>
          <p:cNvSpPr/>
          <p:nvPr/>
        </p:nvSpPr>
        <p:spPr>
          <a:xfrm>
            <a:off x="4646497" y="2320909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8B99EFF-A0A2-08A5-2A8E-DE696DC0AA43}"/>
              </a:ext>
            </a:extLst>
          </p:cNvPr>
          <p:cNvSpPr/>
          <p:nvPr/>
        </p:nvSpPr>
        <p:spPr>
          <a:xfrm>
            <a:off x="4642150" y="2545152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7FDF995-5D72-6786-F502-3852E044405F}"/>
              </a:ext>
            </a:extLst>
          </p:cNvPr>
          <p:cNvSpPr/>
          <p:nvPr/>
        </p:nvSpPr>
        <p:spPr>
          <a:xfrm>
            <a:off x="4894685" y="2083521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51F77F6-15AB-37E8-6C32-3CEEEBEF948B}"/>
              </a:ext>
            </a:extLst>
          </p:cNvPr>
          <p:cNvSpPr/>
          <p:nvPr/>
        </p:nvSpPr>
        <p:spPr>
          <a:xfrm>
            <a:off x="4890334" y="2314295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1A46F2E-9BD5-B091-3E29-C26138FBDC41}"/>
              </a:ext>
            </a:extLst>
          </p:cNvPr>
          <p:cNvSpPr/>
          <p:nvPr/>
        </p:nvSpPr>
        <p:spPr>
          <a:xfrm>
            <a:off x="4892514" y="2538538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D4802A4-71A7-7579-2D3E-3B9384824B33}"/>
              </a:ext>
            </a:extLst>
          </p:cNvPr>
          <p:cNvSpPr/>
          <p:nvPr/>
        </p:nvSpPr>
        <p:spPr>
          <a:xfrm>
            <a:off x="7006512" y="2012712"/>
            <a:ext cx="903047" cy="6891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0C2703E-B9FF-0393-6DCF-34444D2EB004}"/>
              </a:ext>
            </a:extLst>
          </p:cNvPr>
          <p:cNvSpPr/>
          <p:nvPr/>
        </p:nvSpPr>
        <p:spPr>
          <a:xfrm>
            <a:off x="9159006" y="1861367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70789F-9E6B-C337-C85D-AE4A216FE169}"/>
              </a:ext>
            </a:extLst>
          </p:cNvPr>
          <p:cNvSpPr txBox="1"/>
          <p:nvPr/>
        </p:nvSpPr>
        <p:spPr>
          <a:xfrm>
            <a:off x="9346487" y="1549130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연차관리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3D9DB75-54C4-AC51-1535-BAA3FB0BF9F5}"/>
              </a:ext>
            </a:extLst>
          </p:cNvPr>
          <p:cNvSpPr/>
          <p:nvPr/>
        </p:nvSpPr>
        <p:spPr>
          <a:xfrm>
            <a:off x="9266191" y="2264302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3E35402-E0CA-2D92-75D2-EDD6639CC1D2}"/>
              </a:ext>
            </a:extLst>
          </p:cNvPr>
          <p:cNvSpPr/>
          <p:nvPr/>
        </p:nvSpPr>
        <p:spPr>
          <a:xfrm>
            <a:off x="9262025" y="2488545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21A5448-4BAB-F55A-EFA9-4C9D3ABEE706}"/>
              </a:ext>
            </a:extLst>
          </p:cNvPr>
          <p:cNvSpPr/>
          <p:nvPr/>
        </p:nvSpPr>
        <p:spPr>
          <a:xfrm>
            <a:off x="9508029" y="2026914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54F08A7-896A-E326-56E5-08DB52D022FF}"/>
              </a:ext>
            </a:extLst>
          </p:cNvPr>
          <p:cNvSpPr/>
          <p:nvPr/>
        </p:nvSpPr>
        <p:spPr>
          <a:xfrm>
            <a:off x="9503678" y="2257688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D33400B-6479-3D4B-6B79-C3DE36245BE0}"/>
              </a:ext>
            </a:extLst>
          </p:cNvPr>
          <p:cNvSpPr/>
          <p:nvPr/>
        </p:nvSpPr>
        <p:spPr>
          <a:xfrm>
            <a:off x="9506039" y="2481931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98090F2-1D78-670F-331A-131729A18C48}"/>
              </a:ext>
            </a:extLst>
          </p:cNvPr>
          <p:cNvSpPr/>
          <p:nvPr/>
        </p:nvSpPr>
        <p:spPr>
          <a:xfrm>
            <a:off x="9268551" y="2037880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DA8814EE-CBC0-9991-8EA6-09DB565C4E04}"/>
              </a:ext>
            </a:extLst>
          </p:cNvPr>
          <p:cNvSpPr/>
          <p:nvPr/>
        </p:nvSpPr>
        <p:spPr>
          <a:xfrm>
            <a:off x="5945590" y="1240538"/>
            <a:ext cx="2921366" cy="211228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77F44E3A-0DE3-6A64-C4DE-E2510972EBC8}"/>
              </a:ext>
            </a:extLst>
          </p:cNvPr>
          <p:cNvCxnSpPr>
            <a:cxnSpLocks/>
          </p:cNvCxnSpPr>
          <p:nvPr/>
        </p:nvCxnSpPr>
        <p:spPr>
          <a:xfrm>
            <a:off x="7662630" y="2312417"/>
            <a:ext cx="1157257" cy="17040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9D5F493-4F7E-9CB2-9DEA-4D27C4939DCD}"/>
              </a:ext>
            </a:extLst>
          </p:cNvPr>
          <p:cNvSpPr txBox="1"/>
          <p:nvPr/>
        </p:nvSpPr>
        <p:spPr>
          <a:xfrm>
            <a:off x="8379645" y="4016460"/>
            <a:ext cx="2509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FF0000"/>
                </a:solidFill>
              </a:rPr>
              <a:t>click!</a:t>
            </a:r>
            <a:endParaRPr lang="ko-KR" alt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5E41FD1-34DF-8E2C-88E5-03B3D514FA18}"/>
              </a:ext>
            </a:extLst>
          </p:cNvPr>
          <p:cNvSpPr/>
          <p:nvPr/>
        </p:nvSpPr>
        <p:spPr>
          <a:xfrm>
            <a:off x="1737908" y="3482159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BF64F854-4A74-3B38-027E-4D0784CB4B7D}"/>
              </a:ext>
            </a:extLst>
          </p:cNvPr>
          <p:cNvSpPr/>
          <p:nvPr/>
        </p:nvSpPr>
        <p:spPr>
          <a:xfrm>
            <a:off x="2228863" y="3939172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077C57-6FB5-F422-80A9-B62C1A6B0527}"/>
              </a:ext>
            </a:extLst>
          </p:cNvPr>
          <p:cNvSpPr txBox="1"/>
          <p:nvPr/>
        </p:nvSpPr>
        <p:spPr>
          <a:xfrm>
            <a:off x="2412636" y="3640818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취업규칙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35F8CBF-43CF-1D70-F3B6-F6D4B3A8C571}"/>
              </a:ext>
            </a:extLst>
          </p:cNvPr>
          <p:cNvSpPr/>
          <p:nvPr/>
        </p:nvSpPr>
        <p:spPr>
          <a:xfrm>
            <a:off x="2529853" y="4109171"/>
            <a:ext cx="568947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449FE33-44F0-6A97-72EC-7211A45FD341}"/>
              </a:ext>
            </a:extLst>
          </p:cNvPr>
          <p:cNvSpPr/>
          <p:nvPr/>
        </p:nvSpPr>
        <p:spPr>
          <a:xfrm>
            <a:off x="2402853" y="4344665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2B078D9-7AEE-098C-C406-F5CBD6FB96D1}"/>
              </a:ext>
            </a:extLst>
          </p:cNvPr>
          <p:cNvSpPr/>
          <p:nvPr/>
        </p:nvSpPr>
        <p:spPr>
          <a:xfrm>
            <a:off x="2409203" y="4471665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3DAE163-0A1F-DD43-3F7D-E7BC7E807699}"/>
              </a:ext>
            </a:extLst>
          </p:cNvPr>
          <p:cNvSpPr/>
          <p:nvPr/>
        </p:nvSpPr>
        <p:spPr>
          <a:xfrm>
            <a:off x="2409203" y="4598665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81F37C2-E34B-222C-80B9-6400C1429032}"/>
              </a:ext>
            </a:extLst>
          </p:cNvPr>
          <p:cNvSpPr/>
          <p:nvPr/>
        </p:nvSpPr>
        <p:spPr>
          <a:xfrm>
            <a:off x="2415553" y="4719315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589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1BD7AC-368A-2660-6519-39335B364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925"/>
            <a:ext cx="12192000" cy="660897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9986DF0-7C2B-BABB-6DB9-B3F6E8C8878C}"/>
              </a:ext>
            </a:extLst>
          </p:cNvPr>
          <p:cNvSpPr/>
          <p:nvPr/>
        </p:nvSpPr>
        <p:spPr>
          <a:xfrm>
            <a:off x="1117600" y="996950"/>
            <a:ext cx="11074400" cy="5716945"/>
          </a:xfrm>
          <a:prstGeom prst="rect">
            <a:avLst/>
          </a:prstGeom>
          <a:solidFill>
            <a:srgbClr val="EDF1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896FD39-2129-2092-9F6B-332BF7AB2A72}"/>
              </a:ext>
            </a:extLst>
          </p:cNvPr>
          <p:cNvSpPr/>
          <p:nvPr/>
        </p:nvSpPr>
        <p:spPr>
          <a:xfrm>
            <a:off x="1117600" y="990414"/>
            <a:ext cx="11074400" cy="5716944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6CEF68-677B-E1F6-FA68-F182A68F6AD9}"/>
              </a:ext>
            </a:extLst>
          </p:cNvPr>
          <p:cNvSpPr txBox="1"/>
          <p:nvPr/>
        </p:nvSpPr>
        <p:spPr>
          <a:xfrm>
            <a:off x="5598344" y="4930713"/>
            <a:ext cx="57173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</a:rPr>
              <a:t>그룹웨어</a:t>
            </a:r>
            <a:r>
              <a:rPr lang="en-US" altLang="ko-KR" sz="1400" b="1" dirty="0">
                <a:solidFill>
                  <a:srgbClr val="FF0000"/>
                </a:solidFill>
              </a:rPr>
              <a:t>-&gt;</a:t>
            </a:r>
            <a:r>
              <a:rPr lang="ko-KR" altLang="en-US" sz="1400" b="1" dirty="0">
                <a:solidFill>
                  <a:srgbClr val="FF0000"/>
                </a:solidFill>
              </a:rPr>
              <a:t>인사</a:t>
            </a:r>
            <a:r>
              <a:rPr lang="en-US" altLang="ko-KR" sz="1400" b="1" dirty="0">
                <a:solidFill>
                  <a:srgbClr val="FF0000"/>
                </a:solidFill>
              </a:rPr>
              <a:t>-&gt;</a:t>
            </a:r>
            <a:r>
              <a:rPr lang="ko-KR" altLang="en-US" sz="1400" b="1" dirty="0">
                <a:solidFill>
                  <a:srgbClr val="FF0000"/>
                </a:solidFill>
              </a:rPr>
              <a:t>구성원에서 </a:t>
            </a:r>
            <a:r>
              <a:rPr lang="en-US" altLang="ko-KR" sz="1400" b="1" dirty="0">
                <a:solidFill>
                  <a:srgbClr val="FF0000"/>
                </a:solidFill>
              </a:rPr>
              <a:t>DB </a:t>
            </a:r>
            <a:r>
              <a:rPr lang="ko-KR" altLang="en-US" sz="1400" b="1" dirty="0" err="1">
                <a:solidFill>
                  <a:srgbClr val="FF0000"/>
                </a:solidFill>
              </a:rPr>
              <a:t>끌어옴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pic>
        <p:nvPicPr>
          <p:cNvPr id="8" name="그림 7" descr="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9D5A988-5B7A-85A2-A446-A2CB3E785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420" y="726898"/>
            <a:ext cx="10843260" cy="2219990"/>
          </a:xfrm>
          <a:prstGeom prst="rect">
            <a:avLst/>
          </a:prstGeom>
        </p:spPr>
      </p:pic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B17D31BF-0264-BFAC-987C-3E09A286A3D3}"/>
              </a:ext>
            </a:extLst>
          </p:cNvPr>
          <p:cNvCxnSpPr>
            <a:cxnSpLocks/>
          </p:cNvCxnSpPr>
          <p:nvPr/>
        </p:nvCxnSpPr>
        <p:spPr>
          <a:xfrm>
            <a:off x="4881330" y="3226670"/>
            <a:ext cx="1157257" cy="17040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타원 6">
            <a:extLst>
              <a:ext uri="{FF2B5EF4-FFF2-40B4-BE49-F238E27FC236}">
                <a16:creationId xmlns:a16="http://schemas.microsoft.com/office/drawing/2014/main" id="{1891A531-C750-2892-42B4-042564DD2B38}"/>
              </a:ext>
            </a:extLst>
          </p:cNvPr>
          <p:cNvSpPr/>
          <p:nvPr/>
        </p:nvSpPr>
        <p:spPr>
          <a:xfrm>
            <a:off x="1276350" y="334329"/>
            <a:ext cx="10736580" cy="401428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58AA1F86-F19A-DF4D-FF3B-E0A7A85B5319}"/>
              </a:ext>
            </a:extLst>
          </p:cNvPr>
          <p:cNvSpPr/>
          <p:nvPr/>
        </p:nvSpPr>
        <p:spPr>
          <a:xfrm>
            <a:off x="2443480" y="1426464"/>
            <a:ext cx="360680" cy="0"/>
          </a:xfrm>
          <a:custGeom>
            <a:avLst/>
            <a:gdLst>
              <a:gd name="csX0" fmla="*/ 0 w 360680"/>
              <a:gd name="csY0" fmla="*/ 0 h 0"/>
              <a:gd name="csX1" fmla="*/ 360680 w 36068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60680">
                <a:moveTo>
                  <a:pt x="0" y="0"/>
                </a:moveTo>
                <a:lnTo>
                  <a:pt x="360680" y="0"/>
                </a:lnTo>
              </a:path>
            </a:pathLst>
          </a:custGeom>
          <a:noFill/>
          <a:ln>
            <a:solidFill>
              <a:srgbClr val="1919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BC8010CC-1777-D582-27C1-D9F3EE388AFB}"/>
              </a:ext>
            </a:extLst>
          </p:cNvPr>
          <p:cNvSpPr/>
          <p:nvPr/>
        </p:nvSpPr>
        <p:spPr>
          <a:xfrm>
            <a:off x="2448560" y="1736344"/>
            <a:ext cx="360680" cy="0"/>
          </a:xfrm>
          <a:custGeom>
            <a:avLst/>
            <a:gdLst>
              <a:gd name="csX0" fmla="*/ 0 w 360680"/>
              <a:gd name="csY0" fmla="*/ 0 h 0"/>
              <a:gd name="csX1" fmla="*/ 360680 w 36068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60680">
                <a:moveTo>
                  <a:pt x="0" y="0"/>
                </a:moveTo>
                <a:lnTo>
                  <a:pt x="360680" y="0"/>
                </a:lnTo>
              </a:path>
            </a:pathLst>
          </a:custGeom>
          <a:noFill/>
          <a:ln>
            <a:solidFill>
              <a:srgbClr val="1919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FD1A92E7-3625-A84A-9AFA-C63C467C460D}"/>
              </a:ext>
            </a:extLst>
          </p:cNvPr>
          <p:cNvSpPr/>
          <p:nvPr/>
        </p:nvSpPr>
        <p:spPr>
          <a:xfrm>
            <a:off x="2443480" y="2005584"/>
            <a:ext cx="360680" cy="0"/>
          </a:xfrm>
          <a:custGeom>
            <a:avLst/>
            <a:gdLst>
              <a:gd name="csX0" fmla="*/ 0 w 360680"/>
              <a:gd name="csY0" fmla="*/ 0 h 0"/>
              <a:gd name="csX1" fmla="*/ 360680 w 36068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60680">
                <a:moveTo>
                  <a:pt x="0" y="0"/>
                </a:moveTo>
                <a:lnTo>
                  <a:pt x="360680" y="0"/>
                </a:lnTo>
              </a:path>
            </a:pathLst>
          </a:custGeom>
          <a:noFill/>
          <a:ln>
            <a:solidFill>
              <a:srgbClr val="1919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18D59CFC-CFFA-6AB7-9B38-422C7CA099BF}"/>
              </a:ext>
            </a:extLst>
          </p:cNvPr>
          <p:cNvSpPr/>
          <p:nvPr/>
        </p:nvSpPr>
        <p:spPr>
          <a:xfrm>
            <a:off x="2443480" y="2305304"/>
            <a:ext cx="360680" cy="0"/>
          </a:xfrm>
          <a:custGeom>
            <a:avLst/>
            <a:gdLst>
              <a:gd name="csX0" fmla="*/ 0 w 360680"/>
              <a:gd name="csY0" fmla="*/ 0 h 0"/>
              <a:gd name="csX1" fmla="*/ 360680 w 36068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60680">
                <a:moveTo>
                  <a:pt x="0" y="0"/>
                </a:moveTo>
                <a:lnTo>
                  <a:pt x="360680" y="0"/>
                </a:lnTo>
              </a:path>
            </a:pathLst>
          </a:custGeom>
          <a:noFill/>
          <a:ln>
            <a:solidFill>
              <a:srgbClr val="1919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718E58B-6A07-4177-EB1D-650642EC07A1}"/>
              </a:ext>
            </a:extLst>
          </p:cNvPr>
          <p:cNvSpPr/>
          <p:nvPr/>
        </p:nvSpPr>
        <p:spPr>
          <a:xfrm>
            <a:off x="2294755" y="1203696"/>
            <a:ext cx="648098" cy="300161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B27BF4E-72A4-5CBC-FC35-3FEB6709D96E}"/>
              </a:ext>
            </a:extLst>
          </p:cNvPr>
          <p:cNvCxnSpPr>
            <a:cxnSpLocks/>
          </p:cNvCxnSpPr>
          <p:nvPr/>
        </p:nvCxnSpPr>
        <p:spPr>
          <a:xfrm>
            <a:off x="2675792" y="1426464"/>
            <a:ext cx="256735" cy="24214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06FCD38-9782-996E-29B5-F50EE0AB5B7A}"/>
              </a:ext>
            </a:extLst>
          </p:cNvPr>
          <p:cNvSpPr txBox="1"/>
          <p:nvPr/>
        </p:nvSpPr>
        <p:spPr>
          <a:xfrm>
            <a:off x="2769731" y="1609503"/>
            <a:ext cx="5567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click!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543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도표, 라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8D2EA2-39BF-8851-CB44-1257E6954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29844" cy="6858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65D4EAD-2544-E230-90C5-866EE1806227}"/>
              </a:ext>
            </a:extLst>
          </p:cNvPr>
          <p:cNvSpPr/>
          <p:nvPr/>
        </p:nvSpPr>
        <p:spPr>
          <a:xfrm>
            <a:off x="7796361" y="335539"/>
            <a:ext cx="442452" cy="3048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rgbClr val="1919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저장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5F0D36C-22A1-BDBC-7673-370A489EE4A4}"/>
              </a:ext>
            </a:extLst>
          </p:cNvPr>
          <p:cNvSpPr/>
          <p:nvPr/>
        </p:nvSpPr>
        <p:spPr>
          <a:xfrm>
            <a:off x="8382002" y="340455"/>
            <a:ext cx="442452" cy="3048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rgbClr val="1919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출력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CC529ED-6D0B-E673-7008-FE8E06E525F7}"/>
              </a:ext>
            </a:extLst>
          </p:cNvPr>
          <p:cNvSpPr/>
          <p:nvPr/>
        </p:nvSpPr>
        <p:spPr>
          <a:xfrm>
            <a:off x="7688850" y="358086"/>
            <a:ext cx="648098" cy="300161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1345B8E-A521-D479-606D-EE6EA387A47A}"/>
              </a:ext>
            </a:extLst>
          </p:cNvPr>
          <p:cNvCxnSpPr>
            <a:cxnSpLocks/>
          </p:cNvCxnSpPr>
          <p:nvPr/>
        </p:nvCxnSpPr>
        <p:spPr>
          <a:xfrm>
            <a:off x="8069887" y="580854"/>
            <a:ext cx="256735" cy="24214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4181E70-65B4-2514-A9AD-31D006B432F6}"/>
              </a:ext>
            </a:extLst>
          </p:cNvPr>
          <p:cNvSpPr txBox="1"/>
          <p:nvPr/>
        </p:nvSpPr>
        <p:spPr>
          <a:xfrm>
            <a:off x="8163826" y="763893"/>
            <a:ext cx="5943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FF0000"/>
                </a:solidFill>
              </a:rPr>
              <a:t>작성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b="1" dirty="0">
                <a:solidFill>
                  <a:srgbClr val="FF0000"/>
                </a:solidFill>
              </a:rPr>
              <a:t>후 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b="1" dirty="0">
                <a:solidFill>
                  <a:srgbClr val="FF0000"/>
                </a:solidFill>
              </a:rPr>
              <a:t>저장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A6A0B9D-5ACE-E917-C79E-7B1CE535FB32}"/>
              </a:ext>
            </a:extLst>
          </p:cNvPr>
          <p:cNvSpPr/>
          <p:nvPr/>
        </p:nvSpPr>
        <p:spPr>
          <a:xfrm>
            <a:off x="8283210" y="358086"/>
            <a:ext cx="648098" cy="300161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F099B11-0C0E-6153-934F-395F885E48C1}"/>
              </a:ext>
            </a:extLst>
          </p:cNvPr>
          <p:cNvCxnSpPr>
            <a:cxnSpLocks/>
          </p:cNvCxnSpPr>
          <p:nvPr/>
        </p:nvCxnSpPr>
        <p:spPr>
          <a:xfrm>
            <a:off x="8664247" y="580854"/>
            <a:ext cx="256735" cy="24214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FF2C080-2AD3-1A79-524C-F618A6CB1372}"/>
              </a:ext>
            </a:extLst>
          </p:cNvPr>
          <p:cNvSpPr txBox="1"/>
          <p:nvPr/>
        </p:nvSpPr>
        <p:spPr>
          <a:xfrm>
            <a:off x="8758186" y="763893"/>
            <a:ext cx="5567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FF0000"/>
                </a:solidFill>
              </a:rPr>
              <a:t>저장 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b="1" dirty="0">
                <a:solidFill>
                  <a:srgbClr val="FF0000"/>
                </a:solidFill>
              </a:rPr>
              <a:t>후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b="1" dirty="0">
                <a:solidFill>
                  <a:srgbClr val="FF0000"/>
                </a:solidFill>
              </a:rPr>
              <a:t>출력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6C00D6D-39D0-42CD-910A-E4D050B3DFC8}"/>
              </a:ext>
            </a:extLst>
          </p:cNvPr>
          <p:cNvSpPr/>
          <p:nvPr/>
        </p:nvSpPr>
        <p:spPr>
          <a:xfrm>
            <a:off x="590308" y="2789499"/>
            <a:ext cx="8461095" cy="2855397"/>
          </a:xfrm>
          <a:prstGeom prst="roundRect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8230191-DC26-9657-FF16-11E1B63EC5A7}"/>
              </a:ext>
            </a:extLst>
          </p:cNvPr>
          <p:cNvSpPr/>
          <p:nvPr/>
        </p:nvSpPr>
        <p:spPr>
          <a:xfrm>
            <a:off x="789933" y="1576394"/>
            <a:ext cx="3562148" cy="553347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36CAC7E-D455-44EE-404C-8CD4C8C40507}"/>
              </a:ext>
            </a:extLst>
          </p:cNvPr>
          <p:cNvSpPr/>
          <p:nvPr/>
        </p:nvSpPr>
        <p:spPr>
          <a:xfrm>
            <a:off x="9158571" y="1450348"/>
            <a:ext cx="2722412" cy="1206693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자동으로 끌고 옴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6D5890D-ECF4-6714-CB88-85D92FBBCD72}"/>
              </a:ext>
            </a:extLst>
          </p:cNvPr>
          <p:cNvCxnSpPr>
            <a:cxnSpLocks/>
          </p:cNvCxnSpPr>
          <p:nvPr/>
        </p:nvCxnSpPr>
        <p:spPr>
          <a:xfrm>
            <a:off x="4352081" y="1817225"/>
            <a:ext cx="4699322" cy="196770"/>
          </a:xfrm>
          <a:prstGeom prst="straightConnector1">
            <a:avLst/>
          </a:prstGeom>
          <a:ln w="12700">
            <a:solidFill>
              <a:srgbClr val="1919E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0D9355D-28D9-FF30-A06B-6402C2334154}"/>
              </a:ext>
            </a:extLst>
          </p:cNvPr>
          <p:cNvSpPr/>
          <p:nvPr/>
        </p:nvSpPr>
        <p:spPr>
          <a:xfrm>
            <a:off x="9729844" y="3693505"/>
            <a:ext cx="2148062" cy="1047383"/>
          </a:xfrm>
          <a:prstGeom prst="rect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/>
              <a:t>수기로 작성</a:t>
            </a:r>
            <a:endParaRPr lang="ko-KR" altLang="en-US" sz="2400" b="1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AD2E277C-5389-620A-DA22-38CD785EECD1}"/>
              </a:ext>
            </a:extLst>
          </p:cNvPr>
          <p:cNvCxnSpPr>
            <a:cxnSpLocks/>
          </p:cNvCxnSpPr>
          <p:nvPr/>
        </p:nvCxnSpPr>
        <p:spPr>
          <a:xfrm>
            <a:off x="9051403" y="4264760"/>
            <a:ext cx="590308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801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1FB5D7-A6F1-4B43-21B1-24BB9E22B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925"/>
            <a:ext cx="12192000" cy="660897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8470E2E0-5B46-4939-908D-7842E099162F}"/>
              </a:ext>
            </a:extLst>
          </p:cNvPr>
          <p:cNvSpPr/>
          <p:nvPr/>
        </p:nvSpPr>
        <p:spPr>
          <a:xfrm>
            <a:off x="1117600" y="996950"/>
            <a:ext cx="11074400" cy="5716945"/>
          </a:xfrm>
          <a:prstGeom prst="rect">
            <a:avLst/>
          </a:prstGeom>
          <a:solidFill>
            <a:srgbClr val="EDF1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7B22F0D-94DC-97EB-1409-18496EC136A2}"/>
              </a:ext>
            </a:extLst>
          </p:cNvPr>
          <p:cNvSpPr/>
          <p:nvPr/>
        </p:nvSpPr>
        <p:spPr>
          <a:xfrm>
            <a:off x="1718858" y="1450159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3FF11A3-3E88-72E9-E073-DE24436C7A8C}"/>
              </a:ext>
            </a:extLst>
          </p:cNvPr>
          <p:cNvSpPr/>
          <p:nvPr/>
        </p:nvSpPr>
        <p:spPr>
          <a:xfrm>
            <a:off x="4052755" y="1465119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7D6E1C8-FD08-3368-70EF-61E14BAC6227}"/>
              </a:ext>
            </a:extLst>
          </p:cNvPr>
          <p:cNvSpPr/>
          <p:nvPr/>
        </p:nvSpPr>
        <p:spPr>
          <a:xfrm>
            <a:off x="6363342" y="1450159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15900F0-7497-B3AC-113F-60CF7B880E03}"/>
              </a:ext>
            </a:extLst>
          </p:cNvPr>
          <p:cNvSpPr/>
          <p:nvPr/>
        </p:nvSpPr>
        <p:spPr>
          <a:xfrm>
            <a:off x="8673929" y="1450158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6303A21-A7E5-7E57-8DFC-1F655CA77B6A}"/>
              </a:ext>
            </a:extLst>
          </p:cNvPr>
          <p:cNvSpPr/>
          <p:nvPr/>
        </p:nvSpPr>
        <p:spPr>
          <a:xfrm>
            <a:off x="2209813" y="1907172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FA4F7CA-A481-CC90-EA3D-555DD23B801B}"/>
              </a:ext>
            </a:extLst>
          </p:cNvPr>
          <p:cNvSpPr/>
          <p:nvPr/>
        </p:nvSpPr>
        <p:spPr>
          <a:xfrm>
            <a:off x="2377453" y="2083521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4B29E7C-9C3F-CADE-0DF9-E57E0DBACA0A}"/>
              </a:ext>
            </a:extLst>
          </p:cNvPr>
          <p:cNvSpPr/>
          <p:nvPr/>
        </p:nvSpPr>
        <p:spPr>
          <a:xfrm>
            <a:off x="2377453" y="2331715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FC8FC51-03A4-F779-97EF-24E57A2980F9}"/>
              </a:ext>
            </a:extLst>
          </p:cNvPr>
          <p:cNvSpPr/>
          <p:nvPr/>
        </p:nvSpPr>
        <p:spPr>
          <a:xfrm>
            <a:off x="2379816" y="2451459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E3E27A5-28DB-7A38-9C58-7159137781CA}"/>
              </a:ext>
            </a:extLst>
          </p:cNvPr>
          <p:cNvSpPr/>
          <p:nvPr/>
        </p:nvSpPr>
        <p:spPr>
          <a:xfrm>
            <a:off x="2379816" y="2562488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FD82216-4BE2-4A37-DB95-ACD55D4A001B}"/>
              </a:ext>
            </a:extLst>
          </p:cNvPr>
          <p:cNvSpPr/>
          <p:nvPr/>
        </p:nvSpPr>
        <p:spPr>
          <a:xfrm>
            <a:off x="2381806" y="2669170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AAF08B-12EB-A530-AE5A-D1BAC1050BD2}"/>
              </a:ext>
            </a:extLst>
          </p:cNvPr>
          <p:cNvSpPr txBox="1"/>
          <p:nvPr/>
        </p:nvSpPr>
        <p:spPr>
          <a:xfrm>
            <a:off x="2393586" y="1608818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근로계약서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770C48D-3AFC-0387-03B5-FD4409735863}"/>
              </a:ext>
            </a:extLst>
          </p:cNvPr>
          <p:cNvSpPr/>
          <p:nvPr/>
        </p:nvSpPr>
        <p:spPr>
          <a:xfrm>
            <a:off x="4536715" y="1900730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E94D95-44F5-74FC-FD5E-85016AE8A5C7}"/>
              </a:ext>
            </a:extLst>
          </p:cNvPr>
          <p:cNvSpPr txBox="1"/>
          <p:nvPr/>
        </p:nvSpPr>
        <p:spPr>
          <a:xfrm>
            <a:off x="4697678" y="1582874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근로자명부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E6AE4CD-557C-E45F-1825-E9FB7C1FBA86}"/>
              </a:ext>
            </a:extLst>
          </p:cNvPr>
          <p:cNvSpPr/>
          <p:nvPr/>
        </p:nvSpPr>
        <p:spPr>
          <a:xfrm>
            <a:off x="6890429" y="1872251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178840-D95D-4210-9F59-E20FC00B6193}"/>
              </a:ext>
            </a:extLst>
          </p:cNvPr>
          <p:cNvSpPr txBox="1"/>
          <p:nvPr/>
        </p:nvSpPr>
        <p:spPr>
          <a:xfrm>
            <a:off x="7077910" y="1560014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임금대장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7ACC062-D0F1-2B3D-381D-5BCEA43B2933}"/>
              </a:ext>
            </a:extLst>
          </p:cNvPr>
          <p:cNvSpPr/>
          <p:nvPr/>
        </p:nvSpPr>
        <p:spPr>
          <a:xfrm>
            <a:off x="4650847" y="2090133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A94DB92-EEF7-5ADF-B7A1-BB5778BE7AB4}"/>
              </a:ext>
            </a:extLst>
          </p:cNvPr>
          <p:cNvSpPr/>
          <p:nvPr/>
        </p:nvSpPr>
        <p:spPr>
          <a:xfrm>
            <a:off x="4646497" y="2320909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BE52C82-6FBF-B487-C9CB-6ED52FFAFE77}"/>
              </a:ext>
            </a:extLst>
          </p:cNvPr>
          <p:cNvSpPr/>
          <p:nvPr/>
        </p:nvSpPr>
        <p:spPr>
          <a:xfrm>
            <a:off x="4642150" y="2545152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84922D3-9CE6-A120-12ED-A0BF7B2E42A6}"/>
              </a:ext>
            </a:extLst>
          </p:cNvPr>
          <p:cNvSpPr/>
          <p:nvPr/>
        </p:nvSpPr>
        <p:spPr>
          <a:xfrm>
            <a:off x="4894685" y="2083521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EB20ECE-3E03-5A93-1F92-4F392704B7C7}"/>
              </a:ext>
            </a:extLst>
          </p:cNvPr>
          <p:cNvSpPr/>
          <p:nvPr/>
        </p:nvSpPr>
        <p:spPr>
          <a:xfrm>
            <a:off x="4890334" y="2314295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C424B3-5427-B25A-8981-0571129D5D26}"/>
              </a:ext>
            </a:extLst>
          </p:cNvPr>
          <p:cNvSpPr/>
          <p:nvPr/>
        </p:nvSpPr>
        <p:spPr>
          <a:xfrm>
            <a:off x="4892514" y="2538538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F4DF0B5-D742-FD81-6153-46D4FB81407F}"/>
              </a:ext>
            </a:extLst>
          </p:cNvPr>
          <p:cNvSpPr/>
          <p:nvPr/>
        </p:nvSpPr>
        <p:spPr>
          <a:xfrm>
            <a:off x="7006512" y="2012712"/>
            <a:ext cx="903047" cy="6891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1323F18-2FC9-720C-2FEB-7D764BAD9971}"/>
              </a:ext>
            </a:extLst>
          </p:cNvPr>
          <p:cNvSpPr/>
          <p:nvPr/>
        </p:nvSpPr>
        <p:spPr>
          <a:xfrm>
            <a:off x="9159006" y="1861367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30FD3C-CC6B-9CF5-7644-EAE7E6771B38}"/>
              </a:ext>
            </a:extLst>
          </p:cNvPr>
          <p:cNvSpPr txBox="1"/>
          <p:nvPr/>
        </p:nvSpPr>
        <p:spPr>
          <a:xfrm>
            <a:off x="9346487" y="1549130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연차관리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66B0FC2-B8B8-41DD-49C9-56F17EA265F9}"/>
              </a:ext>
            </a:extLst>
          </p:cNvPr>
          <p:cNvSpPr/>
          <p:nvPr/>
        </p:nvSpPr>
        <p:spPr>
          <a:xfrm>
            <a:off x="9266191" y="2264302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A2020C3-B039-05FE-B7DA-0FD05FDCCA55}"/>
              </a:ext>
            </a:extLst>
          </p:cNvPr>
          <p:cNvSpPr/>
          <p:nvPr/>
        </p:nvSpPr>
        <p:spPr>
          <a:xfrm>
            <a:off x="9262025" y="2488545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5D8356B-B7F5-4D57-233B-C7364DD1EF55}"/>
              </a:ext>
            </a:extLst>
          </p:cNvPr>
          <p:cNvSpPr/>
          <p:nvPr/>
        </p:nvSpPr>
        <p:spPr>
          <a:xfrm>
            <a:off x="9508029" y="2026914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E573612-3623-44B8-6B68-DEBA074E212D}"/>
              </a:ext>
            </a:extLst>
          </p:cNvPr>
          <p:cNvSpPr/>
          <p:nvPr/>
        </p:nvSpPr>
        <p:spPr>
          <a:xfrm>
            <a:off x="9503678" y="2257688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4DCE7EF-6BB1-4EB2-E742-CFBF5B0E13C2}"/>
              </a:ext>
            </a:extLst>
          </p:cNvPr>
          <p:cNvSpPr/>
          <p:nvPr/>
        </p:nvSpPr>
        <p:spPr>
          <a:xfrm>
            <a:off x="9506039" y="2481931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5CC82BD-0905-46C2-6252-9E17C3EBAFA5}"/>
              </a:ext>
            </a:extLst>
          </p:cNvPr>
          <p:cNvSpPr/>
          <p:nvPr/>
        </p:nvSpPr>
        <p:spPr>
          <a:xfrm>
            <a:off x="9268551" y="2037880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FD89C7AB-C3E4-9B52-CE62-8E8B9065D5BE}"/>
              </a:ext>
            </a:extLst>
          </p:cNvPr>
          <p:cNvSpPr/>
          <p:nvPr/>
        </p:nvSpPr>
        <p:spPr>
          <a:xfrm>
            <a:off x="8269690" y="1202438"/>
            <a:ext cx="2921366" cy="211228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530C23C6-F328-D282-4071-85222F2F83EC}"/>
              </a:ext>
            </a:extLst>
          </p:cNvPr>
          <p:cNvCxnSpPr>
            <a:cxnSpLocks/>
          </p:cNvCxnSpPr>
          <p:nvPr/>
        </p:nvCxnSpPr>
        <p:spPr>
          <a:xfrm flipH="1">
            <a:off x="8848163" y="2694006"/>
            <a:ext cx="827724" cy="179485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F32707D-42B5-9FFE-55D0-1C6AC0BEE065}"/>
              </a:ext>
            </a:extLst>
          </p:cNvPr>
          <p:cNvSpPr txBox="1"/>
          <p:nvPr/>
        </p:nvSpPr>
        <p:spPr>
          <a:xfrm>
            <a:off x="8091727" y="4399152"/>
            <a:ext cx="2509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FF0000"/>
                </a:solidFill>
              </a:rPr>
              <a:t>click!</a:t>
            </a:r>
            <a:endParaRPr lang="ko-KR" altLang="en-US" sz="4000" b="1" dirty="0">
              <a:solidFill>
                <a:srgbClr val="FF0000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D4BFB90-D7AD-BDC2-8642-4528C74FD017}"/>
              </a:ext>
            </a:extLst>
          </p:cNvPr>
          <p:cNvSpPr/>
          <p:nvPr/>
        </p:nvSpPr>
        <p:spPr>
          <a:xfrm>
            <a:off x="1737908" y="3482159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87FE142-32B3-4C16-EE47-A8467D23BEE0}"/>
              </a:ext>
            </a:extLst>
          </p:cNvPr>
          <p:cNvSpPr/>
          <p:nvPr/>
        </p:nvSpPr>
        <p:spPr>
          <a:xfrm>
            <a:off x="2228863" y="3939172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9A39E3-D3DF-F06E-E4CC-17DC5D7FAD18}"/>
              </a:ext>
            </a:extLst>
          </p:cNvPr>
          <p:cNvSpPr txBox="1"/>
          <p:nvPr/>
        </p:nvSpPr>
        <p:spPr>
          <a:xfrm>
            <a:off x="2412636" y="3640818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취업규칙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C1184C5-2A43-6C29-2AB3-F88191BCDE64}"/>
              </a:ext>
            </a:extLst>
          </p:cNvPr>
          <p:cNvSpPr/>
          <p:nvPr/>
        </p:nvSpPr>
        <p:spPr>
          <a:xfrm>
            <a:off x="2529853" y="4109171"/>
            <a:ext cx="568947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FE16BEB-B71F-7CC8-04AD-3D82FBA466C2}"/>
              </a:ext>
            </a:extLst>
          </p:cNvPr>
          <p:cNvSpPr/>
          <p:nvPr/>
        </p:nvSpPr>
        <p:spPr>
          <a:xfrm>
            <a:off x="2402853" y="4344665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5644014-55A5-E540-896A-317069EBCA9C}"/>
              </a:ext>
            </a:extLst>
          </p:cNvPr>
          <p:cNvSpPr/>
          <p:nvPr/>
        </p:nvSpPr>
        <p:spPr>
          <a:xfrm>
            <a:off x="2409203" y="4471665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3CA11BD-B4AD-F435-AC0E-969A41D59452}"/>
              </a:ext>
            </a:extLst>
          </p:cNvPr>
          <p:cNvSpPr/>
          <p:nvPr/>
        </p:nvSpPr>
        <p:spPr>
          <a:xfrm>
            <a:off x="2409203" y="4598665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111BF8A-F9E7-BE07-780B-B72FC088A0A9}"/>
              </a:ext>
            </a:extLst>
          </p:cNvPr>
          <p:cNvSpPr/>
          <p:nvPr/>
        </p:nvSpPr>
        <p:spPr>
          <a:xfrm>
            <a:off x="2415553" y="4719315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5257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347B8A-870E-C777-9F1A-9F4492AC8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925"/>
            <a:ext cx="12192000" cy="660897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485E763-D77E-7EC5-58EA-0874329C0A1A}"/>
              </a:ext>
            </a:extLst>
          </p:cNvPr>
          <p:cNvSpPr/>
          <p:nvPr/>
        </p:nvSpPr>
        <p:spPr>
          <a:xfrm>
            <a:off x="1117600" y="996950"/>
            <a:ext cx="11074400" cy="5716945"/>
          </a:xfrm>
          <a:prstGeom prst="rect">
            <a:avLst/>
          </a:prstGeom>
          <a:solidFill>
            <a:srgbClr val="EDF1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B52B613-CD2F-D56C-71F6-34AD17193797}"/>
              </a:ext>
            </a:extLst>
          </p:cNvPr>
          <p:cNvSpPr/>
          <p:nvPr/>
        </p:nvSpPr>
        <p:spPr>
          <a:xfrm>
            <a:off x="1117600" y="1013564"/>
            <a:ext cx="11074400" cy="5716944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852BF-34B5-5517-CF2C-7035F5D8BCA0}"/>
              </a:ext>
            </a:extLst>
          </p:cNvPr>
          <p:cNvSpPr txBox="1"/>
          <p:nvPr/>
        </p:nvSpPr>
        <p:spPr>
          <a:xfrm>
            <a:off x="5598344" y="4930713"/>
            <a:ext cx="57173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</a:rPr>
              <a:t>그룹웨어</a:t>
            </a:r>
            <a:r>
              <a:rPr lang="en-US" altLang="ko-KR" sz="1400" b="1" dirty="0">
                <a:solidFill>
                  <a:srgbClr val="FF0000"/>
                </a:solidFill>
              </a:rPr>
              <a:t>-&gt;</a:t>
            </a:r>
            <a:r>
              <a:rPr lang="ko-KR" altLang="en-US" sz="1400" b="1" dirty="0">
                <a:solidFill>
                  <a:srgbClr val="FF0000"/>
                </a:solidFill>
              </a:rPr>
              <a:t>인사</a:t>
            </a:r>
            <a:r>
              <a:rPr lang="en-US" altLang="ko-KR" sz="1400" b="1" dirty="0">
                <a:solidFill>
                  <a:srgbClr val="FF0000"/>
                </a:solidFill>
              </a:rPr>
              <a:t>-&gt;</a:t>
            </a:r>
            <a:r>
              <a:rPr lang="ko-KR" altLang="en-US" sz="1400" b="1" dirty="0">
                <a:solidFill>
                  <a:srgbClr val="FF0000"/>
                </a:solidFill>
              </a:rPr>
              <a:t>구성원에서 </a:t>
            </a:r>
            <a:r>
              <a:rPr lang="en-US" altLang="ko-KR" sz="1400" b="1" dirty="0">
                <a:solidFill>
                  <a:srgbClr val="FF0000"/>
                </a:solidFill>
              </a:rPr>
              <a:t>DB </a:t>
            </a:r>
            <a:r>
              <a:rPr lang="ko-KR" altLang="en-US" sz="1400" b="1" dirty="0" err="1">
                <a:solidFill>
                  <a:srgbClr val="FF0000"/>
                </a:solidFill>
              </a:rPr>
              <a:t>끌어옴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pic>
        <p:nvPicPr>
          <p:cNvPr id="6" name="그림 5" descr="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3E6B33-3691-28B5-BEE1-0E08A382E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420" y="720548"/>
            <a:ext cx="10843260" cy="2219990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EF04419D-3CFF-DBE5-B868-333278FC193C}"/>
              </a:ext>
            </a:extLst>
          </p:cNvPr>
          <p:cNvCxnSpPr>
            <a:cxnSpLocks/>
          </p:cNvCxnSpPr>
          <p:nvPr/>
        </p:nvCxnSpPr>
        <p:spPr>
          <a:xfrm>
            <a:off x="4881330" y="3226670"/>
            <a:ext cx="1157257" cy="17040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33632AF3-5616-8BD4-FE43-2B0AFB62C46F}"/>
              </a:ext>
            </a:extLst>
          </p:cNvPr>
          <p:cNvSpPr/>
          <p:nvPr/>
        </p:nvSpPr>
        <p:spPr>
          <a:xfrm>
            <a:off x="1276350" y="157237"/>
            <a:ext cx="10736580" cy="401428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3998E837-40F4-39E4-0BCC-3E3279D0587B}"/>
              </a:ext>
            </a:extLst>
          </p:cNvPr>
          <p:cNvSpPr/>
          <p:nvPr/>
        </p:nvSpPr>
        <p:spPr>
          <a:xfrm>
            <a:off x="11041753" y="3867289"/>
            <a:ext cx="970910" cy="544406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9FB7689F-A960-A6FF-54C7-1A6A43DE6690}"/>
              </a:ext>
            </a:extLst>
          </p:cNvPr>
          <p:cNvCxnSpPr>
            <a:cxnSpLocks/>
          </p:cNvCxnSpPr>
          <p:nvPr/>
        </p:nvCxnSpPr>
        <p:spPr>
          <a:xfrm flipH="1">
            <a:off x="11074400" y="4354903"/>
            <a:ext cx="452808" cy="43224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3E6D60-A158-FF49-A4CB-76C6C5E859B2}"/>
              </a:ext>
            </a:extLst>
          </p:cNvPr>
          <p:cNvSpPr txBox="1"/>
          <p:nvPr/>
        </p:nvSpPr>
        <p:spPr>
          <a:xfrm>
            <a:off x="10611249" y="4838382"/>
            <a:ext cx="9159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click!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019FD73-3E15-DE0E-FFC2-BA315A2FEA59}"/>
              </a:ext>
            </a:extLst>
          </p:cNvPr>
          <p:cNvSpPr/>
          <p:nvPr/>
        </p:nvSpPr>
        <p:spPr>
          <a:xfrm>
            <a:off x="11167980" y="4011745"/>
            <a:ext cx="718457" cy="2514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미리보기</a:t>
            </a:r>
          </a:p>
        </p:txBody>
      </p:sp>
    </p:spTree>
    <p:extLst>
      <p:ext uri="{BB962C8B-B14F-4D97-AF65-F5344CB8AC3E}">
        <p14:creationId xmlns:p14="http://schemas.microsoft.com/office/powerpoint/2010/main" val="3964948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7686ED6-FF8B-0A63-6B9F-BC65D4FB4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760302"/>
              </p:ext>
            </p:extLst>
          </p:nvPr>
        </p:nvGraphicFramePr>
        <p:xfrm>
          <a:off x="829246" y="1229043"/>
          <a:ext cx="8069008" cy="2341245"/>
        </p:xfrm>
        <a:graphic>
          <a:graphicData uri="http://schemas.openxmlformats.org/drawingml/2006/table">
            <a:tbl>
              <a:tblPr/>
              <a:tblGrid>
                <a:gridCol w="689512">
                  <a:extLst>
                    <a:ext uri="{9D8B030D-6E8A-4147-A177-3AD203B41FA5}">
                      <a16:colId xmlns:a16="http://schemas.microsoft.com/office/drawing/2014/main" val="2462264404"/>
                    </a:ext>
                  </a:extLst>
                </a:gridCol>
                <a:gridCol w="929308">
                  <a:extLst>
                    <a:ext uri="{9D8B030D-6E8A-4147-A177-3AD203B41FA5}">
                      <a16:colId xmlns:a16="http://schemas.microsoft.com/office/drawing/2014/main" val="1952739492"/>
                    </a:ext>
                  </a:extLst>
                </a:gridCol>
                <a:gridCol w="1530524">
                  <a:extLst>
                    <a:ext uri="{9D8B030D-6E8A-4147-A177-3AD203B41FA5}">
                      <a16:colId xmlns:a16="http://schemas.microsoft.com/office/drawing/2014/main" val="2426638731"/>
                    </a:ext>
                  </a:extLst>
                </a:gridCol>
                <a:gridCol w="1229916">
                  <a:extLst>
                    <a:ext uri="{9D8B030D-6E8A-4147-A177-3AD203B41FA5}">
                      <a16:colId xmlns:a16="http://schemas.microsoft.com/office/drawing/2014/main" val="2388395704"/>
                    </a:ext>
                  </a:extLst>
                </a:gridCol>
                <a:gridCol w="1229916">
                  <a:extLst>
                    <a:ext uri="{9D8B030D-6E8A-4147-A177-3AD203B41FA5}">
                      <a16:colId xmlns:a16="http://schemas.microsoft.com/office/drawing/2014/main" val="319662306"/>
                    </a:ext>
                  </a:extLst>
                </a:gridCol>
                <a:gridCol w="1229916">
                  <a:extLst>
                    <a:ext uri="{9D8B030D-6E8A-4147-A177-3AD203B41FA5}">
                      <a16:colId xmlns:a16="http://schemas.microsoft.com/office/drawing/2014/main" val="1175184562"/>
                    </a:ext>
                  </a:extLst>
                </a:gridCol>
                <a:gridCol w="1229916">
                  <a:extLst>
                    <a:ext uri="{9D8B030D-6E8A-4147-A177-3AD203B41FA5}">
                      <a16:colId xmlns:a16="http://schemas.microsoft.com/office/drawing/2014/main" val="3873992519"/>
                    </a:ext>
                  </a:extLst>
                </a:gridCol>
              </a:tblGrid>
              <a:tr h="46824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No.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이름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소속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연차일수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연차 사용일수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일급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원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연차휴가 보상비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79153"/>
                  </a:ext>
                </a:extLst>
              </a:tr>
              <a:tr h="46824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조민준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J Partners Solution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47,846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430,614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254984"/>
                  </a:ext>
                </a:extLst>
              </a:tr>
              <a:tr h="46824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이우진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경영지원본부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23,923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215,307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643332"/>
                  </a:ext>
                </a:extLst>
              </a:tr>
              <a:tr h="46824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김종필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영업지원본부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23,923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191,384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947670"/>
                  </a:ext>
                </a:extLst>
              </a:tr>
              <a:tr h="46824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4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박선형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경리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/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회계부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11,962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59,810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A0B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72505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7268C52D-96F5-7FBF-41C1-F42D3BE44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788" y="28305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09418F3-9154-2DBA-C88D-4FC2FD09862C}"/>
              </a:ext>
            </a:extLst>
          </p:cNvPr>
          <p:cNvSpPr/>
          <p:nvPr/>
        </p:nvSpPr>
        <p:spPr>
          <a:xfrm>
            <a:off x="9156300" y="1752601"/>
            <a:ext cx="718457" cy="2514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err="1">
                <a:solidFill>
                  <a:schemeClr val="tx1"/>
                </a:solidFill>
              </a:rPr>
              <a:t>풀력하기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9C6CEE3-208D-91FB-4DFA-5F267151BFA7}"/>
              </a:ext>
            </a:extLst>
          </p:cNvPr>
          <p:cNvSpPr/>
          <p:nvPr/>
        </p:nvSpPr>
        <p:spPr>
          <a:xfrm>
            <a:off x="9156299" y="2243139"/>
            <a:ext cx="718457" cy="2514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출력하기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F1EDBD1-9A1A-51DA-1F91-8526D19DB5BC}"/>
              </a:ext>
            </a:extLst>
          </p:cNvPr>
          <p:cNvSpPr/>
          <p:nvPr/>
        </p:nvSpPr>
        <p:spPr>
          <a:xfrm>
            <a:off x="9156298" y="2733677"/>
            <a:ext cx="718457" cy="2514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출력하기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FD49177-D777-7841-52F4-D77424310AD9}"/>
              </a:ext>
            </a:extLst>
          </p:cNvPr>
          <p:cNvSpPr/>
          <p:nvPr/>
        </p:nvSpPr>
        <p:spPr>
          <a:xfrm>
            <a:off x="9156298" y="3224215"/>
            <a:ext cx="718457" cy="2514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출력하기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2A03B06-2700-23B9-B214-179C92FD7F22}"/>
              </a:ext>
            </a:extLst>
          </p:cNvPr>
          <p:cNvSpPr/>
          <p:nvPr/>
        </p:nvSpPr>
        <p:spPr>
          <a:xfrm>
            <a:off x="10050380" y="1752601"/>
            <a:ext cx="718457" cy="2514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저장하기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4C4C1AD-1522-09D5-252F-E92522E2E13E}"/>
              </a:ext>
            </a:extLst>
          </p:cNvPr>
          <p:cNvSpPr/>
          <p:nvPr/>
        </p:nvSpPr>
        <p:spPr>
          <a:xfrm>
            <a:off x="10050379" y="2243139"/>
            <a:ext cx="718457" cy="2514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저장하기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BEB6014-1109-E759-8D20-8A4D3C79D6DC}"/>
              </a:ext>
            </a:extLst>
          </p:cNvPr>
          <p:cNvSpPr/>
          <p:nvPr/>
        </p:nvSpPr>
        <p:spPr>
          <a:xfrm>
            <a:off x="10050378" y="2733677"/>
            <a:ext cx="718457" cy="2514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저장하기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24CF12B-15A8-8328-914A-33785B2C8AD6}"/>
              </a:ext>
            </a:extLst>
          </p:cNvPr>
          <p:cNvSpPr/>
          <p:nvPr/>
        </p:nvSpPr>
        <p:spPr>
          <a:xfrm>
            <a:off x="10050378" y="3224215"/>
            <a:ext cx="718457" cy="2514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저장하기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47EED50-345C-82B2-7DE3-823A2DABD7DE}"/>
              </a:ext>
            </a:extLst>
          </p:cNvPr>
          <p:cNvSpPr/>
          <p:nvPr/>
        </p:nvSpPr>
        <p:spPr>
          <a:xfrm>
            <a:off x="829246" y="472440"/>
            <a:ext cx="718457" cy="251460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</a:rPr>
              <a:t>검색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AC9B8D3-8680-A921-9B18-59E7F5F52327}"/>
              </a:ext>
            </a:extLst>
          </p:cNvPr>
          <p:cNvGrpSpPr/>
          <p:nvPr/>
        </p:nvGrpSpPr>
        <p:grpSpPr>
          <a:xfrm>
            <a:off x="1280160" y="535940"/>
            <a:ext cx="135951" cy="162705"/>
            <a:chOff x="2872740" y="1531620"/>
            <a:chExt cx="135951" cy="162705"/>
          </a:xfrm>
        </p:grpSpPr>
        <p:sp>
          <p:nvSpPr>
            <p:cNvPr id="16" name="원형: 비어 있음 15">
              <a:extLst>
                <a:ext uri="{FF2B5EF4-FFF2-40B4-BE49-F238E27FC236}">
                  <a16:creationId xmlns:a16="http://schemas.microsoft.com/office/drawing/2014/main" id="{62A271D0-BB0A-6B4B-EC61-18210727EBB8}"/>
                </a:ext>
              </a:extLst>
            </p:cNvPr>
            <p:cNvSpPr/>
            <p:nvPr/>
          </p:nvSpPr>
          <p:spPr>
            <a:xfrm>
              <a:off x="2872740" y="1531620"/>
              <a:ext cx="106680" cy="106680"/>
            </a:xfrm>
            <a:prstGeom prst="donu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D64FFB32-F662-609A-8E3F-DA1AE16D81B5}"/>
                </a:ext>
              </a:extLst>
            </p:cNvPr>
            <p:cNvSpPr/>
            <p:nvPr/>
          </p:nvSpPr>
          <p:spPr>
            <a:xfrm rot="3060436">
              <a:off x="2945896" y="1631529"/>
              <a:ext cx="79872" cy="4571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5ECC693D-15D4-B521-DCAA-211293933C85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2381409" y="613285"/>
            <a:ext cx="1204311" cy="90847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9625FAF-FE12-C9CC-E456-CD4CEEA11173}"/>
              </a:ext>
            </a:extLst>
          </p:cNvPr>
          <p:cNvSpPr/>
          <p:nvPr/>
        </p:nvSpPr>
        <p:spPr>
          <a:xfrm>
            <a:off x="819086" y="719399"/>
            <a:ext cx="718457" cy="509382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>
                <a:solidFill>
                  <a:schemeClr val="tx1"/>
                </a:solidFill>
              </a:rPr>
              <a:t>2024</a:t>
            </a:r>
            <a:r>
              <a:rPr lang="ko-KR" altLang="en-US" sz="1100" b="1" dirty="0">
                <a:solidFill>
                  <a:schemeClr val="tx1"/>
                </a:solidFill>
              </a:rPr>
              <a:t>년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r>
              <a:rPr lang="en-US" altLang="ko-KR" sz="1100" b="1" dirty="0">
                <a:solidFill>
                  <a:schemeClr val="tx1"/>
                </a:solidFill>
              </a:rPr>
              <a:t>2025</a:t>
            </a:r>
            <a:r>
              <a:rPr lang="ko-KR" altLang="en-US" sz="1100" b="1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2D73CB-4A5F-98C8-2E47-4F2A390F2DC9}"/>
              </a:ext>
            </a:extLst>
          </p:cNvPr>
          <p:cNvSpPr txBox="1"/>
          <p:nvPr/>
        </p:nvSpPr>
        <p:spPr>
          <a:xfrm>
            <a:off x="3585720" y="519466"/>
            <a:ext cx="582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해당년도 </a:t>
            </a:r>
            <a:r>
              <a:rPr lang="ko-KR" altLang="en-US" dirty="0" err="1"/>
              <a:t>지정후</a:t>
            </a:r>
            <a:r>
              <a:rPr lang="ko-KR" altLang="en-US" dirty="0"/>
              <a:t> 조회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7708325-3C30-112D-FFB7-072047EC6DDF}"/>
              </a:ext>
            </a:extLst>
          </p:cNvPr>
          <p:cNvSpPr/>
          <p:nvPr/>
        </p:nvSpPr>
        <p:spPr>
          <a:xfrm>
            <a:off x="1639388" y="472440"/>
            <a:ext cx="718457" cy="251460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조회</a:t>
            </a:r>
          </a:p>
        </p:txBody>
      </p:sp>
    </p:spTree>
    <p:extLst>
      <p:ext uri="{BB962C8B-B14F-4D97-AF65-F5344CB8AC3E}">
        <p14:creationId xmlns:p14="http://schemas.microsoft.com/office/powerpoint/2010/main" val="2118496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382959F-F115-22B9-43DF-EA270CF3B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925"/>
            <a:ext cx="12192000" cy="660897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7DCAA6E-38E9-EF14-065C-2B204EE85117}"/>
              </a:ext>
            </a:extLst>
          </p:cNvPr>
          <p:cNvSpPr/>
          <p:nvPr/>
        </p:nvSpPr>
        <p:spPr>
          <a:xfrm>
            <a:off x="1117600" y="996950"/>
            <a:ext cx="11074400" cy="5716945"/>
          </a:xfrm>
          <a:prstGeom prst="rect">
            <a:avLst/>
          </a:prstGeom>
          <a:solidFill>
            <a:srgbClr val="EDF1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0D0F491-23A2-3A2E-C997-B4F13DA5F84A}"/>
              </a:ext>
            </a:extLst>
          </p:cNvPr>
          <p:cNvSpPr/>
          <p:nvPr/>
        </p:nvSpPr>
        <p:spPr>
          <a:xfrm>
            <a:off x="1718858" y="1450159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5724402-8FCA-51BE-0134-08CBFDFE76E4}"/>
              </a:ext>
            </a:extLst>
          </p:cNvPr>
          <p:cNvSpPr/>
          <p:nvPr/>
        </p:nvSpPr>
        <p:spPr>
          <a:xfrm>
            <a:off x="4052755" y="1465119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1BEB59E-23F4-0E39-954A-48BC2EEE5F0D}"/>
              </a:ext>
            </a:extLst>
          </p:cNvPr>
          <p:cNvSpPr/>
          <p:nvPr/>
        </p:nvSpPr>
        <p:spPr>
          <a:xfrm>
            <a:off x="6363342" y="1450159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8E6701A-B6C4-9E6B-86B6-0A08F9DEE19E}"/>
              </a:ext>
            </a:extLst>
          </p:cNvPr>
          <p:cNvSpPr/>
          <p:nvPr/>
        </p:nvSpPr>
        <p:spPr>
          <a:xfrm>
            <a:off x="8673929" y="1450158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25F4A28-FA1C-1978-4873-EC1C90541732}"/>
              </a:ext>
            </a:extLst>
          </p:cNvPr>
          <p:cNvSpPr/>
          <p:nvPr/>
        </p:nvSpPr>
        <p:spPr>
          <a:xfrm>
            <a:off x="2209813" y="1907172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9C0C11-E362-FEF3-A104-7EB847FEFFEA}"/>
              </a:ext>
            </a:extLst>
          </p:cNvPr>
          <p:cNvSpPr/>
          <p:nvPr/>
        </p:nvSpPr>
        <p:spPr>
          <a:xfrm>
            <a:off x="2377453" y="2083521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703722A-DFA5-1F7A-1D92-71F4F32D6963}"/>
              </a:ext>
            </a:extLst>
          </p:cNvPr>
          <p:cNvSpPr/>
          <p:nvPr/>
        </p:nvSpPr>
        <p:spPr>
          <a:xfrm>
            <a:off x="2377453" y="2331715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04C51BB-9286-4915-B893-87E8240A0CDB}"/>
              </a:ext>
            </a:extLst>
          </p:cNvPr>
          <p:cNvSpPr/>
          <p:nvPr/>
        </p:nvSpPr>
        <p:spPr>
          <a:xfrm>
            <a:off x="2379816" y="2451459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AAE2010-0835-9546-6632-9D85E6BDC020}"/>
              </a:ext>
            </a:extLst>
          </p:cNvPr>
          <p:cNvSpPr/>
          <p:nvPr/>
        </p:nvSpPr>
        <p:spPr>
          <a:xfrm>
            <a:off x="2379816" y="2562488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181A377-DBE2-AFEC-49F5-BFB8A089DA3D}"/>
              </a:ext>
            </a:extLst>
          </p:cNvPr>
          <p:cNvSpPr/>
          <p:nvPr/>
        </p:nvSpPr>
        <p:spPr>
          <a:xfrm>
            <a:off x="2381806" y="2669170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70F6B6-4F21-C9CE-7770-65AA0B05AF0C}"/>
              </a:ext>
            </a:extLst>
          </p:cNvPr>
          <p:cNvSpPr txBox="1"/>
          <p:nvPr/>
        </p:nvSpPr>
        <p:spPr>
          <a:xfrm>
            <a:off x="2393586" y="1608818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근로계약서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66331FB-24A6-6C64-E349-00EB196053F7}"/>
              </a:ext>
            </a:extLst>
          </p:cNvPr>
          <p:cNvSpPr/>
          <p:nvPr/>
        </p:nvSpPr>
        <p:spPr>
          <a:xfrm>
            <a:off x="4536715" y="1900730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2C7AB3-6C80-E4FE-788D-C04616F9521C}"/>
              </a:ext>
            </a:extLst>
          </p:cNvPr>
          <p:cNvSpPr txBox="1"/>
          <p:nvPr/>
        </p:nvSpPr>
        <p:spPr>
          <a:xfrm>
            <a:off x="4697678" y="1582874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근로자명부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0BBEEC4-029C-7AAE-23F3-B880BDE1335B}"/>
              </a:ext>
            </a:extLst>
          </p:cNvPr>
          <p:cNvSpPr/>
          <p:nvPr/>
        </p:nvSpPr>
        <p:spPr>
          <a:xfrm>
            <a:off x="6890429" y="1872251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70FCC9-3348-31BC-956E-886B0B71C546}"/>
              </a:ext>
            </a:extLst>
          </p:cNvPr>
          <p:cNvSpPr txBox="1"/>
          <p:nvPr/>
        </p:nvSpPr>
        <p:spPr>
          <a:xfrm>
            <a:off x="7077910" y="1560014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임금대장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DB94FB4-C0EA-562F-D7FF-2797E505EACC}"/>
              </a:ext>
            </a:extLst>
          </p:cNvPr>
          <p:cNvSpPr/>
          <p:nvPr/>
        </p:nvSpPr>
        <p:spPr>
          <a:xfrm>
            <a:off x="4650847" y="2090133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95D2A7-BC0A-72EF-4ABA-B075124B4A9B}"/>
              </a:ext>
            </a:extLst>
          </p:cNvPr>
          <p:cNvSpPr/>
          <p:nvPr/>
        </p:nvSpPr>
        <p:spPr>
          <a:xfrm>
            <a:off x="4646497" y="2320909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7ACC75D-7E0F-A5C6-D86A-FEF8558CF08F}"/>
              </a:ext>
            </a:extLst>
          </p:cNvPr>
          <p:cNvSpPr/>
          <p:nvPr/>
        </p:nvSpPr>
        <p:spPr>
          <a:xfrm>
            <a:off x="4642150" y="2545152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ED437CF-5F4D-E334-1F88-C61CC3FC6844}"/>
              </a:ext>
            </a:extLst>
          </p:cNvPr>
          <p:cNvSpPr/>
          <p:nvPr/>
        </p:nvSpPr>
        <p:spPr>
          <a:xfrm>
            <a:off x="4894685" y="2083521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52B7CF4-0841-CAD5-F90F-BC99CB661EF5}"/>
              </a:ext>
            </a:extLst>
          </p:cNvPr>
          <p:cNvSpPr/>
          <p:nvPr/>
        </p:nvSpPr>
        <p:spPr>
          <a:xfrm>
            <a:off x="4890334" y="2314295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4A1ABA1-A62C-CAD0-3BA8-EEB85F937D3B}"/>
              </a:ext>
            </a:extLst>
          </p:cNvPr>
          <p:cNvSpPr/>
          <p:nvPr/>
        </p:nvSpPr>
        <p:spPr>
          <a:xfrm>
            <a:off x="4892514" y="2538538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AC7DE65-48CD-6F9E-1061-B76685B55682}"/>
              </a:ext>
            </a:extLst>
          </p:cNvPr>
          <p:cNvSpPr/>
          <p:nvPr/>
        </p:nvSpPr>
        <p:spPr>
          <a:xfrm>
            <a:off x="7006512" y="2012712"/>
            <a:ext cx="903047" cy="6891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48B02CA-506A-20EF-6AAC-D1A4F849C259}"/>
              </a:ext>
            </a:extLst>
          </p:cNvPr>
          <p:cNvSpPr/>
          <p:nvPr/>
        </p:nvSpPr>
        <p:spPr>
          <a:xfrm>
            <a:off x="9159006" y="1861367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56ACF2-CEC5-69CC-E8C2-8B5AF2CAE9A8}"/>
              </a:ext>
            </a:extLst>
          </p:cNvPr>
          <p:cNvSpPr txBox="1"/>
          <p:nvPr/>
        </p:nvSpPr>
        <p:spPr>
          <a:xfrm>
            <a:off x="9346487" y="1549130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연차관리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7718DFA-A6A2-7A1E-9CB5-048A29C59BC5}"/>
              </a:ext>
            </a:extLst>
          </p:cNvPr>
          <p:cNvSpPr/>
          <p:nvPr/>
        </p:nvSpPr>
        <p:spPr>
          <a:xfrm>
            <a:off x="9266191" y="2264302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5485A23-A371-86B3-3CE6-24FDDB24524C}"/>
              </a:ext>
            </a:extLst>
          </p:cNvPr>
          <p:cNvSpPr/>
          <p:nvPr/>
        </p:nvSpPr>
        <p:spPr>
          <a:xfrm>
            <a:off x="9262025" y="2488545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4FB7981-5A2C-6EB1-6A5B-6CBE58F47174}"/>
              </a:ext>
            </a:extLst>
          </p:cNvPr>
          <p:cNvSpPr/>
          <p:nvPr/>
        </p:nvSpPr>
        <p:spPr>
          <a:xfrm>
            <a:off x="9508029" y="2026914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B3FD7EC-0097-8F6E-3C69-D4ECB7DD97A1}"/>
              </a:ext>
            </a:extLst>
          </p:cNvPr>
          <p:cNvSpPr/>
          <p:nvPr/>
        </p:nvSpPr>
        <p:spPr>
          <a:xfrm>
            <a:off x="9503678" y="2257688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AA88630-0F45-9EB4-40CA-BCD94BF628CE}"/>
              </a:ext>
            </a:extLst>
          </p:cNvPr>
          <p:cNvSpPr/>
          <p:nvPr/>
        </p:nvSpPr>
        <p:spPr>
          <a:xfrm>
            <a:off x="9506039" y="2481931"/>
            <a:ext cx="620396" cy="172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2E8E81C-85EC-1832-A89E-5344A8070A70}"/>
              </a:ext>
            </a:extLst>
          </p:cNvPr>
          <p:cNvSpPr/>
          <p:nvPr/>
        </p:nvSpPr>
        <p:spPr>
          <a:xfrm>
            <a:off x="9268551" y="2037880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F786F35-0A98-CDB0-F7EE-9B2972C8151D}"/>
              </a:ext>
            </a:extLst>
          </p:cNvPr>
          <p:cNvSpPr txBox="1"/>
          <p:nvPr/>
        </p:nvSpPr>
        <p:spPr>
          <a:xfrm>
            <a:off x="4697678" y="5053898"/>
            <a:ext cx="7382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rgbClr val="FF0000"/>
                </a:solidFill>
              </a:rPr>
              <a:t>click! E-</a:t>
            </a:r>
            <a:r>
              <a:rPr lang="ko-KR" altLang="en-US" sz="3200" b="1" dirty="0">
                <a:solidFill>
                  <a:srgbClr val="FF0000"/>
                </a:solidFill>
              </a:rPr>
              <a:t>폼 작성 후 신청</a:t>
            </a:r>
            <a:r>
              <a:rPr lang="en-US" altLang="ko-KR" sz="3200" b="1" dirty="0">
                <a:solidFill>
                  <a:srgbClr val="FF0000"/>
                </a:solidFill>
              </a:rPr>
              <a:t>(e-mail </a:t>
            </a:r>
            <a:r>
              <a:rPr lang="ko-KR" altLang="en-US" sz="3200" b="1" dirty="0">
                <a:solidFill>
                  <a:srgbClr val="FF0000"/>
                </a:solidFill>
              </a:rPr>
              <a:t>발송</a:t>
            </a:r>
            <a:r>
              <a:rPr lang="en-US" altLang="ko-KR" sz="3200" b="1" dirty="0">
                <a:solidFill>
                  <a:srgbClr val="FF0000"/>
                </a:solidFill>
              </a:rPr>
              <a:t>)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BB0B9C7-CCFD-9C6B-92A2-08629C88B17A}"/>
              </a:ext>
            </a:extLst>
          </p:cNvPr>
          <p:cNvSpPr/>
          <p:nvPr/>
        </p:nvSpPr>
        <p:spPr>
          <a:xfrm>
            <a:off x="1737908" y="3482159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F4760780-E8F4-A25B-7617-BFCE1DA4539A}"/>
              </a:ext>
            </a:extLst>
          </p:cNvPr>
          <p:cNvSpPr/>
          <p:nvPr/>
        </p:nvSpPr>
        <p:spPr>
          <a:xfrm>
            <a:off x="2228863" y="3939172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9B7AA47-6F09-7799-FD54-42D990B4C867}"/>
              </a:ext>
            </a:extLst>
          </p:cNvPr>
          <p:cNvSpPr txBox="1"/>
          <p:nvPr/>
        </p:nvSpPr>
        <p:spPr>
          <a:xfrm>
            <a:off x="2412636" y="3640818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취업규칙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5421688-1F42-B96D-7684-E5F8B568031F}"/>
              </a:ext>
            </a:extLst>
          </p:cNvPr>
          <p:cNvSpPr/>
          <p:nvPr/>
        </p:nvSpPr>
        <p:spPr>
          <a:xfrm>
            <a:off x="2529853" y="4109171"/>
            <a:ext cx="568947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64FBE15-AFE9-C872-613E-A939A368B77E}"/>
              </a:ext>
            </a:extLst>
          </p:cNvPr>
          <p:cNvSpPr/>
          <p:nvPr/>
        </p:nvSpPr>
        <p:spPr>
          <a:xfrm>
            <a:off x="2402853" y="4344665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F06F9BE-22F6-7292-D1F7-34942C8429B6}"/>
              </a:ext>
            </a:extLst>
          </p:cNvPr>
          <p:cNvSpPr/>
          <p:nvPr/>
        </p:nvSpPr>
        <p:spPr>
          <a:xfrm>
            <a:off x="2409203" y="4471665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B1EE107-1293-D21B-D3AF-D18CA107DBAE}"/>
              </a:ext>
            </a:extLst>
          </p:cNvPr>
          <p:cNvSpPr/>
          <p:nvPr/>
        </p:nvSpPr>
        <p:spPr>
          <a:xfrm>
            <a:off x="2409203" y="4598665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A011CF6-FF46-AECA-30EE-CACECA2697C6}"/>
              </a:ext>
            </a:extLst>
          </p:cNvPr>
          <p:cNvSpPr/>
          <p:nvPr/>
        </p:nvSpPr>
        <p:spPr>
          <a:xfrm>
            <a:off x="2415553" y="4719315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A15B13E-2AB3-A296-77D0-7E24D132F9F4}"/>
              </a:ext>
            </a:extLst>
          </p:cNvPr>
          <p:cNvSpPr/>
          <p:nvPr/>
        </p:nvSpPr>
        <p:spPr>
          <a:xfrm>
            <a:off x="1369615" y="3255414"/>
            <a:ext cx="2921366" cy="211228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AEF16A98-186D-D088-0502-DF7AF1A0B177}"/>
              </a:ext>
            </a:extLst>
          </p:cNvPr>
          <p:cNvCxnSpPr>
            <a:cxnSpLocks/>
          </p:cNvCxnSpPr>
          <p:nvPr/>
        </p:nvCxnSpPr>
        <p:spPr>
          <a:xfrm>
            <a:off x="2871006" y="4399152"/>
            <a:ext cx="1859318" cy="100868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602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81CE7E-F911-0FFB-035B-DC693501A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925"/>
            <a:ext cx="12192000" cy="660897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7C61347-DF46-C3B7-B94E-6717F9C9904E}"/>
              </a:ext>
            </a:extLst>
          </p:cNvPr>
          <p:cNvSpPr/>
          <p:nvPr/>
        </p:nvSpPr>
        <p:spPr>
          <a:xfrm>
            <a:off x="5625922" y="3356070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C36A1A-2E4B-F9FA-DC67-E27834E55A9A}"/>
              </a:ext>
            </a:extLst>
          </p:cNvPr>
          <p:cNvSpPr txBox="1"/>
          <p:nvPr/>
        </p:nvSpPr>
        <p:spPr>
          <a:xfrm>
            <a:off x="6355971" y="5115025"/>
            <a:ext cx="6290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노무관리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4E5A72-5E69-BBBE-BB23-7D98CEA9E0D6}"/>
              </a:ext>
            </a:extLst>
          </p:cNvPr>
          <p:cNvSpPr txBox="1"/>
          <p:nvPr/>
        </p:nvSpPr>
        <p:spPr>
          <a:xfrm>
            <a:off x="6033136" y="3456224"/>
            <a:ext cx="12747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solidFill>
                  <a:schemeClr val="bg2">
                    <a:lumMod val="50000"/>
                  </a:schemeClr>
                </a:solidFill>
              </a:rPr>
              <a:t>Labor Management</a:t>
            </a:r>
            <a:endParaRPr lang="ko-KR" altLang="en-US" sz="9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0FC0C77-A969-6F48-EC70-C4517548CAF1}"/>
              </a:ext>
            </a:extLst>
          </p:cNvPr>
          <p:cNvSpPr/>
          <p:nvPr/>
        </p:nvSpPr>
        <p:spPr>
          <a:xfrm>
            <a:off x="6096000" y="3819797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0542D9A-C18D-CF55-6344-D7F2F6C9787B}"/>
              </a:ext>
            </a:extLst>
          </p:cNvPr>
          <p:cNvSpPr/>
          <p:nvPr/>
        </p:nvSpPr>
        <p:spPr>
          <a:xfrm>
            <a:off x="6263640" y="3996146"/>
            <a:ext cx="176349" cy="156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18238C0-E608-E15A-7E09-0EE2CA842F20}"/>
              </a:ext>
            </a:extLst>
          </p:cNvPr>
          <p:cNvSpPr/>
          <p:nvPr/>
        </p:nvSpPr>
        <p:spPr>
          <a:xfrm>
            <a:off x="6263640" y="4244340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2EFB25B-E085-EBC5-1E9E-9DB8525E81B7}"/>
              </a:ext>
            </a:extLst>
          </p:cNvPr>
          <p:cNvSpPr/>
          <p:nvPr/>
        </p:nvSpPr>
        <p:spPr>
          <a:xfrm>
            <a:off x="6272353" y="4364084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80EBEA3-937C-329F-D378-B5C8FB69471F}"/>
              </a:ext>
            </a:extLst>
          </p:cNvPr>
          <p:cNvSpPr/>
          <p:nvPr/>
        </p:nvSpPr>
        <p:spPr>
          <a:xfrm>
            <a:off x="6272353" y="4475113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3661FA6-9C0B-2387-B6D5-248A5B04582B}"/>
              </a:ext>
            </a:extLst>
          </p:cNvPr>
          <p:cNvSpPr/>
          <p:nvPr/>
        </p:nvSpPr>
        <p:spPr>
          <a:xfrm>
            <a:off x="6267993" y="4581795"/>
            <a:ext cx="82949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B182D8A-947E-2523-326E-93D307C2BB4F}"/>
              </a:ext>
            </a:extLst>
          </p:cNvPr>
          <p:cNvSpPr/>
          <p:nvPr/>
        </p:nvSpPr>
        <p:spPr>
          <a:xfrm>
            <a:off x="7881438" y="3371312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FBC4F6-3642-5ED7-D32E-0C20C3C5FD56}"/>
              </a:ext>
            </a:extLst>
          </p:cNvPr>
          <p:cNvSpPr txBox="1"/>
          <p:nvPr/>
        </p:nvSpPr>
        <p:spPr>
          <a:xfrm>
            <a:off x="8474759" y="5122290"/>
            <a:ext cx="10946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>
                <a:latin typeface="+mj-lt"/>
                <a:ea typeface="HY견고딕" panose="02030600000101010101" pitchFamily="18" charset="-127"/>
              </a:rPr>
              <a:t>업무자료실</a:t>
            </a:r>
            <a:r>
              <a:rPr lang="en-US" altLang="ko-KR" sz="800" dirty="0">
                <a:latin typeface="+mj-lt"/>
                <a:ea typeface="HY견고딕" panose="02030600000101010101" pitchFamily="18" charset="-127"/>
              </a:rPr>
              <a:t>/</a:t>
            </a:r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의뢰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84A751-2B2A-A0F3-F3CD-5C020A8B9F68}"/>
              </a:ext>
            </a:extLst>
          </p:cNvPr>
          <p:cNvSpPr txBox="1"/>
          <p:nvPr/>
        </p:nvSpPr>
        <p:spPr>
          <a:xfrm>
            <a:off x="8241164" y="3517907"/>
            <a:ext cx="13696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solidFill>
                  <a:schemeClr val="bg2">
                    <a:lumMod val="50000"/>
                  </a:schemeClr>
                </a:solidFill>
              </a:rPr>
              <a:t>Business</a:t>
            </a:r>
            <a:r>
              <a:rPr lang="ko-KR" altLang="en-US" sz="9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ko-KR" sz="900" b="1" dirty="0">
                <a:solidFill>
                  <a:schemeClr val="bg2">
                    <a:lumMod val="50000"/>
                  </a:schemeClr>
                </a:solidFill>
              </a:rPr>
              <a:t>Data room</a:t>
            </a:r>
            <a:endParaRPr lang="ko-KR" altLang="en-US" sz="9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2397C1A-DEBE-9BF3-CF18-1C02D67CCF6F}"/>
              </a:ext>
            </a:extLst>
          </p:cNvPr>
          <p:cNvSpPr/>
          <p:nvPr/>
        </p:nvSpPr>
        <p:spPr>
          <a:xfrm>
            <a:off x="8351516" y="3861163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AAA1BD8-89EA-FD5C-C846-6091AAC4EA16}"/>
              </a:ext>
            </a:extLst>
          </p:cNvPr>
          <p:cNvSpPr/>
          <p:nvPr/>
        </p:nvSpPr>
        <p:spPr>
          <a:xfrm>
            <a:off x="8525687" y="4037511"/>
            <a:ext cx="284117" cy="2525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C3B3A16-2470-7EE0-4F4F-DB4B8080938B}"/>
              </a:ext>
            </a:extLst>
          </p:cNvPr>
          <p:cNvSpPr/>
          <p:nvPr/>
        </p:nvSpPr>
        <p:spPr>
          <a:xfrm>
            <a:off x="9011184" y="4033155"/>
            <a:ext cx="284117" cy="2525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A462289-8109-C14E-84AB-BFC903DBD5D9}"/>
              </a:ext>
            </a:extLst>
          </p:cNvPr>
          <p:cNvSpPr/>
          <p:nvPr/>
        </p:nvSpPr>
        <p:spPr>
          <a:xfrm>
            <a:off x="8530035" y="4394563"/>
            <a:ext cx="284117" cy="2525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0B8FD6C-C93A-957C-2850-943A97F7A8A4}"/>
              </a:ext>
            </a:extLst>
          </p:cNvPr>
          <p:cNvSpPr/>
          <p:nvPr/>
        </p:nvSpPr>
        <p:spPr>
          <a:xfrm>
            <a:off x="9022072" y="4390211"/>
            <a:ext cx="284117" cy="2525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F2E4706-317B-7C58-D0F0-EF52FEEBE191}"/>
              </a:ext>
            </a:extLst>
          </p:cNvPr>
          <p:cNvSpPr/>
          <p:nvPr/>
        </p:nvSpPr>
        <p:spPr>
          <a:xfrm>
            <a:off x="7753892" y="3094810"/>
            <a:ext cx="2338251" cy="2390503"/>
          </a:xfrm>
          <a:prstGeom prst="rect">
            <a:avLst/>
          </a:prstGeom>
          <a:noFill/>
          <a:ln w="222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9FDA6B19-BA85-C992-8972-C985AADC3F25}"/>
              </a:ext>
            </a:extLst>
          </p:cNvPr>
          <p:cNvCxnSpPr>
            <a:cxnSpLocks/>
          </p:cNvCxnSpPr>
          <p:nvPr/>
        </p:nvCxnSpPr>
        <p:spPr>
          <a:xfrm>
            <a:off x="9004300" y="4290059"/>
            <a:ext cx="1146629" cy="167313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565F4CD-3DE5-F79A-6563-7F2253C8E5BF}"/>
              </a:ext>
            </a:extLst>
          </p:cNvPr>
          <p:cNvSpPr txBox="1"/>
          <p:nvPr/>
        </p:nvSpPr>
        <p:spPr>
          <a:xfrm>
            <a:off x="10150929" y="5603718"/>
            <a:ext cx="2509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FF0000"/>
                </a:solidFill>
              </a:rPr>
              <a:t>click!</a:t>
            </a:r>
            <a:endParaRPr lang="ko-KR" altLang="en-US" sz="4000" b="1" dirty="0">
              <a:solidFill>
                <a:srgbClr val="FF0000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6805A13-88D1-B16E-0E61-C14B669EB40E}"/>
              </a:ext>
            </a:extLst>
          </p:cNvPr>
          <p:cNvSpPr/>
          <p:nvPr/>
        </p:nvSpPr>
        <p:spPr>
          <a:xfrm>
            <a:off x="7439660" y="3218180"/>
            <a:ext cx="2921366" cy="211228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9685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8C410E-918C-4794-C328-675A86948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925"/>
            <a:ext cx="12192000" cy="660897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7865C75-876A-ECF8-ED4E-B2C426452D4C}"/>
              </a:ext>
            </a:extLst>
          </p:cNvPr>
          <p:cNvSpPr/>
          <p:nvPr/>
        </p:nvSpPr>
        <p:spPr>
          <a:xfrm>
            <a:off x="1117600" y="996950"/>
            <a:ext cx="11074400" cy="5716945"/>
          </a:xfrm>
          <a:prstGeom prst="rect">
            <a:avLst/>
          </a:prstGeom>
          <a:solidFill>
            <a:srgbClr val="EDF1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E771B15-DA43-E0A4-E8AE-9C4BEF96D966}"/>
              </a:ext>
            </a:extLst>
          </p:cNvPr>
          <p:cNvSpPr/>
          <p:nvPr/>
        </p:nvSpPr>
        <p:spPr>
          <a:xfrm>
            <a:off x="1473022" y="1282160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CEC2AD3-AA60-AA7D-8BF6-C4ABF5C0EFC7}"/>
              </a:ext>
            </a:extLst>
          </p:cNvPr>
          <p:cNvSpPr/>
          <p:nvPr/>
        </p:nvSpPr>
        <p:spPr>
          <a:xfrm>
            <a:off x="3759022" y="1288510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0CC6CB7-2A37-8D40-1704-671056ABD803}"/>
              </a:ext>
            </a:extLst>
          </p:cNvPr>
          <p:cNvSpPr/>
          <p:nvPr/>
        </p:nvSpPr>
        <p:spPr>
          <a:xfrm>
            <a:off x="6025972" y="1288510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C482D9B-D57D-2B8D-4420-8AFF62F3ACC5}"/>
              </a:ext>
            </a:extLst>
          </p:cNvPr>
          <p:cNvSpPr/>
          <p:nvPr/>
        </p:nvSpPr>
        <p:spPr>
          <a:xfrm>
            <a:off x="8305622" y="1294860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F2599DC-2B4A-F0AC-3C27-98E6244C6D96}"/>
              </a:ext>
            </a:extLst>
          </p:cNvPr>
          <p:cNvSpPr/>
          <p:nvPr/>
        </p:nvSpPr>
        <p:spPr>
          <a:xfrm>
            <a:off x="1466672" y="3085560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AE561D1-9870-5AD9-BA32-FF893C7CEA65}"/>
              </a:ext>
            </a:extLst>
          </p:cNvPr>
          <p:cNvSpPr/>
          <p:nvPr/>
        </p:nvSpPr>
        <p:spPr>
          <a:xfrm>
            <a:off x="3746322" y="3066510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8A5A737-C017-ABFC-CD67-30F31B381733}"/>
              </a:ext>
            </a:extLst>
          </p:cNvPr>
          <p:cNvSpPr/>
          <p:nvPr/>
        </p:nvSpPr>
        <p:spPr>
          <a:xfrm>
            <a:off x="6034450" y="3053810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07033AB-E048-12C3-3C9F-96867633392D}"/>
              </a:ext>
            </a:extLst>
          </p:cNvPr>
          <p:cNvSpPr/>
          <p:nvPr/>
        </p:nvSpPr>
        <p:spPr>
          <a:xfrm>
            <a:off x="8299272" y="3053810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F1F990-AB15-15B0-A97A-8A55DD5FD51B}"/>
              </a:ext>
            </a:extLst>
          </p:cNvPr>
          <p:cNvSpPr txBox="1"/>
          <p:nvPr/>
        </p:nvSpPr>
        <p:spPr>
          <a:xfrm>
            <a:off x="2113804" y="1436454"/>
            <a:ext cx="7948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bg2">
                    <a:lumMod val="50000"/>
                  </a:schemeClr>
                </a:solidFill>
              </a:rPr>
              <a:t>인사 </a:t>
            </a:r>
            <a:r>
              <a:rPr lang="en-US" altLang="ko-KR" sz="900" b="1" dirty="0">
                <a:solidFill>
                  <a:schemeClr val="bg2">
                    <a:lumMod val="50000"/>
                  </a:schemeClr>
                </a:solidFill>
              </a:rPr>
              <a:t>/ </a:t>
            </a:r>
            <a:r>
              <a:rPr lang="ko-KR" altLang="en-US" sz="900" b="1" dirty="0">
                <a:solidFill>
                  <a:schemeClr val="bg2">
                    <a:lumMod val="50000"/>
                  </a:schemeClr>
                </a:solidFill>
              </a:rPr>
              <a:t>노무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21AA33-AD45-CB21-4528-82175557EDE6}"/>
              </a:ext>
            </a:extLst>
          </p:cNvPr>
          <p:cNvSpPr txBox="1"/>
          <p:nvPr/>
        </p:nvSpPr>
        <p:spPr>
          <a:xfrm>
            <a:off x="4109283" y="1432602"/>
            <a:ext cx="17261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bg2">
                    <a:lumMod val="50000"/>
                  </a:schemeClr>
                </a:solidFill>
              </a:rPr>
              <a:t>기업연구소 </a:t>
            </a:r>
            <a:r>
              <a:rPr lang="en-US" altLang="ko-KR" sz="900" b="1" dirty="0">
                <a:solidFill>
                  <a:schemeClr val="bg2">
                    <a:lumMod val="50000"/>
                  </a:schemeClr>
                </a:solidFill>
              </a:rPr>
              <a:t>/ </a:t>
            </a:r>
            <a:r>
              <a:rPr lang="ko-KR" altLang="en-US" sz="900" b="1" dirty="0">
                <a:solidFill>
                  <a:schemeClr val="bg2">
                    <a:lumMod val="50000"/>
                  </a:schemeClr>
                </a:solidFill>
              </a:rPr>
              <a:t>벤처기업인증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8F32D3-6CEC-397E-1DAB-06A6D03C962E}"/>
              </a:ext>
            </a:extLst>
          </p:cNvPr>
          <p:cNvSpPr txBox="1"/>
          <p:nvPr/>
        </p:nvSpPr>
        <p:spPr>
          <a:xfrm>
            <a:off x="6348775" y="1437668"/>
            <a:ext cx="1460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bg2">
                    <a:lumMod val="50000"/>
                  </a:schemeClr>
                </a:solidFill>
              </a:rPr>
              <a:t>특허권</a:t>
            </a:r>
            <a:r>
              <a:rPr lang="en-US" altLang="ko-KR" sz="900" b="1" dirty="0">
                <a:solidFill>
                  <a:schemeClr val="bg2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bg2">
                    <a:lumMod val="50000"/>
                  </a:schemeClr>
                </a:solidFill>
              </a:rPr>
              <a:t>상표권</a:t>
            </a:r>
            <a:r>
              <a:rPr lang="en-US" altLang="ko-KR" sz="900" b="1" dirty="0">
                <a:solidFill>
                  <a:schemeClr val="bg2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bg2">
                    <a:lumMod val="50000"/>
                  </a:schemeClr>
                </a:solidFill>
              </a:rPr>
              <a:t>디자인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1128CF-0C24-5E6F-3B16-3C1CD0D48407}"/>
              </a:ext>
            </a:extLst>
          </p:cNvPr>
          <p:cNvSpPr txBox="1"/>
          <p:nvPr/>
        </p:nvSpPr>
        <p:spPr>
          <a:xfrm>
            <a:off x="8593431" y="1432602"/>
            <a:ext cx="15601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bg2">
                    <a:lumMod val="50000"/>
                  </a:schemeClr>
                </a:solidFill>
              </a:rPr>
              <a:t>감정평가</a:t>
            </a:r>
            <a:r>
              <a:rPr lang="en-US" altLang="ko-KR" sz="900" b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bg2">
                    <a:lumMod val="50000"/>
                  </a:schemeClr>
                </a:solidFill>
              </a:rPr>
              <a:t>주식</a:t>
            </a:r>
            <a:r>
              <a:rPr lang="en-US" altLang="ko-KR" sz="900" b="1" dirty="0">
                <a:solidFill>
                  <a:schemeClr val="bg2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bg2">
                    <a:lumMod val="50000"/>
                  </a:schemeClr>
                </a:solidFill>
              </a:rPr>
              <a:t>유형</a:t>
            </a:r>
            <a:r>
              <a:rPr lang="en-US" altLang="ko-KR" sz="900" b="1" dirty="0">
                <a:solidFill>
                  <a:schemeClr val="bg2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bg2">
                    <a:lumMod val="50000"/>
                  </a:schemeClr>
                </a:solidFill>
              </a:rPr>
              <a:t>무형</a:t>
            </a:r>
            <a:r>
              <a:rPr lang="en-US" altLang="ko-KR" sz="900" b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ko-KR" altLang="en-US" sz="9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106274-4A35-F751-A3B9-0235DA4C301A}"/>
              </a:ext>
            </a:extLst>
          </p:cNvPr>
          <p:cNvSpPr txBox="1"/>
          <p:nvPr/>
        </p:nvSpPr>
        <p:spPr>
          <a:xfrm>
            <a:off x="2025330" y="3226171"/>
            <a:ext cx="9845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bg2">
                    <a:lumMod val="50000"/>
                  </a:schemeClr>
                </a:solidFill>
              </a:rPr>
              <a:t>법무</a:t>
            </a:r>
            <a:r>
              <a:rPr lang="en-US" altLang="ko-KR" sz="900" b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bg2">
                    <a:lumMod val="50000"/>
                  </a:schemeClr>
                </a:solidFill>
              </a:rPr>
              <a:t>등기</a:t>
            </a:r>
            <a:r>
              <a:rPr lang="en-US" altLang="ko-KR" sz="900" b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r>
              <a:rPr lang="ko-KR" altLang="en-US" sz="900" b="1" dirty="0">
                <a:solidFill>
                  <a:schemeClr val="bg2">
                    <a:lumMod val="50000"/>
                  </a:schemeClr>
                </a:solidFill>
              </a:rPr>
              <a:t>업무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530074-8541-29C3-9E6F-93F6C6A491C7}"/>
              </a:ext>
            </a:extLst>
          </p:cNvPr>
          <p:cNvSpPr txBox="1"/>
          <p:nvPr/>
        </p:nvSpPr>
        <p:spPr>
          <a:xfrm>
            <a:off x="4150398" y="3226171"/>
            <a:ext cx="13472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bg2">
                    <a:lumMod val="50000"/>
                  </a:schemeClr>
                </a:solidFill>
              </a:rPr>
              <a:t>주주총회</a:t>
            </a:r>
            <a:r>
              <a:rPr lang="en-US" altLang="ko-KR" sz="900" b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bg2">
                    <a:lumMod val="50000"/>
                  </a:schemeClr>
                </a:solidFill>
              </a:rPr>
              <a:t>정기</a:t>
            </a:r>
            <a:r>
              <a:rPr lang="en-US" altLang="ko-KR" sz="900" b="1" dirty="0">
                <a:solidFill>
                  <a:schemeClr val="bg2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bg2">
                    <a:lumMod val="50000"/>
                  </a:schemeClr>
                </a:solidFill>
              </a:rPr>
              <a:t>임시</a:t>
            </a:r>
            <a:r>
              <a:rPr lang="en-US" altLang="ko-KR" sz="900" b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ko-KR" altLang="en-US" sz="9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D717FC-DD75-1A2A-7C57-5702C9CCDDB4}"/>
              </a:ext>
            </a:extLst>
          </p:cNvPr>
          <p:cNvSpPr txBox="1"/>
          <p:nvPr/>
        </p:nvSpPr>
        <p:spPr>
          <a:xfrm>
            <a:off x="6594172" y="3226171"/>
            <a:ext cx="9697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bg2">
                    <a:lumMod val="50000"/>
                  </a:schemeClr>
                </a:solidFill>
              </a:rPr>
              <a:t>절세</a:t>
            </a:r>
            <a:r>
              <a:rPr lang="en-US" altLang="ko-KR" sz="900" b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bg2">
                    <a:lumMod val="50000"/>
                  </a:schemeClr>
                </a:solidFill>
              </a:rPr>
              <a:t>개인</a:t>
            </a:r>
            <a:r>
              <a:rPr lang="en-US" altLang="ko-KR" sz="900" b="1" dirty="0">
                <a:solidFill>
                  <a:schemeClr val="bg2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bg2">
                    <a:lumMod val="50000"/>
                  </a:schemeClr>
                </a:solidFill>
              </a:rPr>
              <a:t>법인</a:t>
            </a:r>
            <a:r>
              <a:rPr lang="en-US" altLang="ko-KR" sz="900" b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ko-KR" altLang="en-US" sz="9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B62009-0B0A-0821-B907-84C7F0E3352C}"/>
              </a:ext>
            </a:extLst>
          </p:cNvPr>
          <p:cNvSpPr txBox="1"/>
          <p:nvPr/>
        </p:nvSpPr>
        <p:spPr>
          <a:xfrm>
            <a:off x="8945552" y="3176346"/>
            <a:ext cx="7948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schemeClr val="bg2">
                    <a:lumMod val="50000"/>
                  </a:schemeClr>
                </a:solidFill>
              </a:rPr>
              <a:t>고용지원금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C08B25-9CF7-A5D8-9ED5-BEF79FF237BE}"/>
              </a:ext>
            </a:extLst>
          </p:cNvPr>
          <p:cNvSpPr txBox="1"/>
          <p:nvPr/>
        </p:nvSpPr>
        <p:spPr>
          <a:xfrm>
            <a:off x="4109283" y="5352960"/>
            <a:ext cx="50224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solidFill>
                  <a:srgbClr val="FF0000"/>
                </a:solidFill>
              </a:rPr>
              <a:t>원하는 분야 </a:t>
            </a:r>
            <a:r>
              <a:rPr lang="en-US" altLang="ko-KR" sz="4000" b="1" dirty="0">
                <a:solidFill>
                  <a:srgbClr val="FF0000"/>
                </a:solidFill>
              </a:rPr>
              <a:t>Click!</a:t>
            </a:r>
            <a:endParaRPr lang="ko-KR" altLang="en-US" sz="4000" b="1" dirty="0">
              <a:solidFill>
                <a:srgbClr val="FF0000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43010AC-224E-6083-3FA9-C331FA7C79D6}"/>
              </a:ext>
            </a:extLst>
          </p:cNvPr>
          <p:cNvSpPr/>
          <p:nvPr/>
        </p:nvSpPr>
        <p:spPr>
          <a:xfrm>
            <a:off x="1117600" y="996950"/>
            <a:ext cx="2921366" cy="211228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9A336F64-8CC1-B680-3497-88DE7DF94950}"/>
              </a:ext>
            </a:extLst>
          </p:cNvPr>
          <p:cNvCxnSpPr>
            <a:cxnSpLocks/>
          </p:cNvCxnSpPr>
          <p:nvPr/>
        </p:nvCxnSpPr>
        <p:spPr>
          <a:xfrm>
            <a:off x="2618991" y="2140688"/>
            <a:ext cx="1531407" cy="320592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3555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BA3A791-9A0D-7968-34B0-BECA29CCF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925"/>
            <a:ext cx="12192000" cy="660897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A155CB7-4E56-959B-8E17-B08F7E64EA50}"/>
              </a:ext>
            </a:extLst>
          </p:cNvPr>
          <p:cNvSpPr/>
          <p:nvPr/>
        </p:nvSpPr>
        <p:spPr>
          <a:xfrm>
            <a:off x="1117600" y="990414"/>
            <a:ext cx="11074400" cy="5716944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4BB58BC-1500-9BEE-C2E5-1FB81411950D}"/>
              </a:ext>
            </a:extLst>
          </p:cNvPr>
          <p:cNvSpPr/>
          <p:nvPr/>
        </p:nvSpPr>
        <p:spPr>
          <a:xfrm>
            <a:off x="1325879" y="1401894"/>
            <a:ext cx="7928658" cy="4190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2A05435-6D6A-A55B-5BF9-92FF280C596E}"/>
              </a:ext>
            </a:extLst>
          </p:cNvPr>
          <p:cNvSpPr/>
          <p:nvPr/>
        </p:nvSpPr>
        <p:spPr>
          <a:xfrm>
            <a:off x="1086425" y="983877"/>
            <a:ext cx="11074400" cy="5716945"/>
          </a:xfrm>
          <a:prstGeom prst="rect">
            <a:avLst/>
          </a:prstGeom>
          <a:solidFill>
            <a:srgbClr val="EDF1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D23EF2F-2B0E-8ECE-8AB9-63D2313C3BB1}"/>
              </a:ext>
            </a:extLst>
          </p:cNvPr>
          <p:cNvSpPr/>
          <p:nvPr/>
        </p:nvSpPr>
        <p:spPr>
          <a:xfrm>
            <a:off x="1325879" y="1196154"/>
            <a:ext cx="1756955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인사</a:t>
            </a:r>
            <a:r>
              <a:rPr lang="en-US" altLang="ko-KR" dirty="0"/>
              <a:t>/</a:t>
            </a:r>
            <a:r>
              <a:rPr lang="ko-KR" altLang="en-US" dirty="0"/>
              <a:t>노무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3180E4C-FF7E-31A6-B4CA-717B5A480320}"/>
              </a:ext>
            </a:extLst>
          </p:cNvPr>
          <p:cNvSpPr/>
          <p:nvPr/>
        </p:nvSpPr>
        <p:spPr>
          <a:xfrm>
            <a:off x="1360043" y="2075192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3A41AF0-67B6-F35D-836A-648ACA656479}"/>
              </a:ext>
            </a:extLst>
          </p:cNvPr>
          <p:cNvSpPr/>
          <p:nvPr/>
        </p:nvSpPr>
        <p:spPr>
          <a:xfrm>
            <a:off x="1850998" y="2532205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24191B-DDE2-ECB3-95AC-D4EF845B5AD1}"/>
              </a:ext>
            </a:extLst>
          </p:cNvPr>
          <p:cNvSpPr txBox="1"/>
          <p:nvPr/>
        </p:nvSpPr>
        <p:spPr>
          <a:xfrm>
            <a:off x="1953746" y="2233851"/>
            <a:ext cx="9026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>
                <a:latin typeface="+mj-lt"/>
                <a:ea typeface="HY견고딕" panose="02030600000101010101" pitchFamily="18" charset="-127"/>
              </a:rPr>
              <a:t>노무서식 양식</a:t>
            </a:r>
            <a:endParaRPr lang="ko-KR" altLang="en-US" sz="800" dirty="0">
              <a:latin typeface="+mj-lt"/>
              <a:ea typeface="HY견고딕" panose="0203060000010101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CED7525-4E83-694A-7CA8-1C9126402C22}"/>
              </a:ext>
            </a:extLst>
          </p:cNvPr>
          <p:cNvSpPr/>
          <p:nvPr/>
        </p:nvSpPr>
        <p:spPr>
          <a:xfrm>
            <a:off x="3781080" y="2053972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D736184-8C8D-631F-8752-9E4EE687B5FD}"/>
              </a:ext>
            </a:extLst>
          </p:cNvPr>
          <p:cNvSpPr/>
          <p:nvPr/>
        </p:nvSpPr>
        <p:spPr>
          <a:xfrm>
            <a:off x="4272035" y="2510985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0273F4-B84C-8ECC-138F-3B1FDCAB8FA4}"/>
              </a:ext>
            </a:extLst>
          </p:cNvPr>
          <p:cNvSpPr txBox="1"/>
          <p:nvPr/>
        </p:nvSpPr>
        <p:spPr>
          <a:xfrm>
            <a:off x="4455808" y="2212631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성예방교육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22864CD-B346-691D-00C4-7769C43EFCF6}"/>
              </a:ext>
            </a:extLst>
          </p:cNvPr>
          <p:cNvSpPr/>
          <p:nvPr/>
        </p:nvSpPr>
        <p:spPr>
          <a:xfrm>
            <a:off x="6132670" y="2032750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9464CED-D011-11E6-1077-9D4B67032E1C}"/>
              </a:ext>
            </a:extLst>
          </p:cNvPr>
          <p:cNvSpPr/>
          <p:nvPr/>
        </p:nvSpPr>
        <p:spPr>
          <a:xfrm>
            <a:off x="6623625" y="2489763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7896B9-DE0C-4373-151A-175415D047C2}"/>
              </a:ext>
            </a:extLst>
          </p:cNvPr>
          <p:cNvSpPr txBox="1"/>
          <p:nvPr/>
        </p:nvSpPr>
        <p:spPr>
          <a:xfrm>
            <a:off x="6460158" y="2214559"/>
            <a:ext cx="14485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>
                <a:latin typeface="+mj-lt"/>
                <a:ea typeface="HY견고딕" panose="02030600000101010101" pitchFamily="18" charset="-127"/>
              </a:rPr>
              <a:t>직장내 괴롭힘 예방교육</a:t>
            </a:r>
            <a:endParaRPr lang="ko-KR" altLang="en-US" sz="800" dirty="0">
              <a:latin typeface="+mj-lt"/>
              <a:ea typeface="HY견고딕" panose="02030600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A406866-30C8-BF3B-1B36-7DF85B89EB3F}"/>
              </a:ext>
            </a:extLst>
          </p:cNvPr>
          <p:cNvSpPr/>
          <p:nvPr/>
        </p:nvSpPr>
        <p:spPr>
          <a:xfrm>
            <a:off x="8461110" y="2023103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1B8B52-27DA-49C6-9C66-2B0753D6B074}"/>
              </a:ext>
            </a:extLst>
          </p:cNvPr>
          <p:cNvSpPr/>
          <p:nvPr/>
        </p:nvSpPr>
        <p:spPr>
          <a:xfrm>
            <a:off x="8952065" y="2480116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FA6DAF-D456-616F-97C9-3B4FDAD18607}"/>
              </a:ext>
            </a:extLst>
          </p:cNvPr>
          <p:cNvSpPr txBox="1"/>
          <p:nvPr/>
        </p:nvSpPr>
        <p:spPr>
          <a:xfrm>
            <a:off x="9135838" y="2181762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기타</a:t>
            </a:r>
          </a:p>
        </p:txBody>
      </p:sp>
    </p:spTree>
    <p:extLst>
      <p:ext uri="{BB962C8B-B14F-4D97-AF65-F5344CB8AC3E}">
        <p14:creationId xmlns:p14="http://schemas.microsoft.com/office/powerpoint/2010/main" val="32156440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DC09D1-F53B-DEDD-8533-748DEAB6C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925"/>
            <a:ext cx="12192000" cy="660897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5458C24C-88CD-9428-9E64-79716D4BF9BC}"/>
              </a:ext>
            </a:extLst>
          </p:cNvPr>
          <p:cNvSpPr/>
          <p:nvPr/>
        </p:nvSpPr>
        <p:spPr>
          <a:xfrm>
            <a:off x="1117600" y="990414"/>
            <a:ext cx="11074400" cy="5716944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4D23107-3980-4EC4-FE69-EFEA257AD662}"/>
              </a:ext>
            </a:extLst>
          </p:cNvPr>
          <p:cNvSpPr/>
          <p:nvPr/>
        </p:nvSpPr>
        <p:spPr>
          <a:xfrm>
            <a:off x="6363342" y="1450159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3757F09-C65D-40D3-97E6-9914BB8FF06E}"/>
              </a:ext>
            </a:extLst>
          </p:cNvPr>
          <p:cNvSpPr/>
          <p:nvPr/>
        </p:nvSpPr>
        <p:spPr>
          <a:xfrm>
            <a:off x="6890429" y="1872251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6C3B4D0-BC52-ECC1-1AC8-69AF7D845017}"/>
              </a:ext>
            </a:extLst>
          </p:cNvPr>
          <p:cNvSpPr/>
          <p:nvPr/>
        </p:nvSpPr>
        <p:spPr>
          <a:xfrm>
            <a:off x="7006512" y="2012712"/>
            <a:ext cx="903047" cy="6891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386CCA9-117D-885B-4401-C044BB6051C1}"/>
              </a:ext>
            </a:extLst>
          </p:cNvPr>
          <p:cNvSpPr/>
          <p:nvPr/>
        </p:nvSpPr>
        <p:spPr>
          <a:xfrm>
            <a:off x="1117600" y="996950"/>
            <a:ext cx="11074400" cy="5716945"/>
          </a:xfrm>
          <a:prstGeom prst="rect">
            <a:avLst/>
          </a:prstGeom>
          <a:solidFill>
            <a:srgbClr val="EDF1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D749C0-AEEC-B999-A3AD-20C8481B3C23}"/>
              </a:ext>
            </a:extLst>
          </p:cNvPr>
          <p:cNvSpPr/>
          <p:nvPr/>
        </p:nvSpPr>
        <p:spPr>
          <a:xfrm>
            <a:off x="1398621" y="1244419"/>
            <a:ext cx="2940814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기업연구소</a:t>
            </a:r>
            <a:r>
              <a:rPr lang="en-US" altLang="ko-KR" dirty="0"/>
              <a:t>/</a:t>
            </a:r>
            <a:r>
              <a:rPr lang="ko-KR" altLang="en-US" dirty="0"/>
              <a:t>벤처기업인증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B8778BA-3C3A-E36A-E456-5C722A866037}"/>
              </a:ext>
            </a:extLst>
          </p:cNvPr>
          <p:cNvSpPr/>
          <p:nvPr/>
        </p:nvSpPr>
        <p:spPr>
          <a:xfrm>
            <a:off x="1398621" y="2032750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3B89644-97F6-08CD-B797-76C641944998}"/>
              </a:ext>
            </a:extLst>
          </p:cNvPr>
          <p:cNvSpPr/>
          <p:nvPr/>
        </p:nvSpPr>
        <p:spPr>
          <a:xfrm>
            <a:off x="1889576" y="2489763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43AFE5-7F89-19A9-3112-3A7573EA3B9A}"/>
              </a:ext>
            </a:extLst>
          </p:cNvPr>
          <p:cNvSpPr txBox="1"/>
          <p:nvPr/>
        </p:nvSpPr>
        <p:spPr>
          <a:xfrm>
            <a:off x="2073349" y="2191409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기업연구소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C118143-461B-AE10-6CD2-31E6F5052782}"/>
              </a:ext>
            </a:extLst>
          </p:cNvPr>
          <p:cNvSpPr/>
          <p:nvPr/>
        </p:nvSpPr>
        <p:spPr>
          <a:xfrm>
            <a:off x="3819658" y="2034678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4A38FFA-C626-23AC-EEC5-FC88B31B4F70}"/>
              </a:ext>
            </a:extLst>
          </p:cNvPr>
          <p:cNvSpPr/>
          <p:nvPr/>
        </p:nvSpPr>
        <p:spPr>
          <a:xfrm>
            <a:off x="4310613" y="2491691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CF6B03-3110-E56F-630B-9B9B60D0E7AB}"/>
              </a:ext>
            </a:extLst>
          </p:cNvPr>
          <p:cNvSpPr txBox="1"/>
          <p:nvPr/>
        </p:nvSpPr>
        <p:spPr>
          <a:xfrm>
            <a:off x="4444680" y="2217365"/>
            <a:ext cx="8540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>
                <a:latin typeface="+mj-lt"/>
                <a:ea typeface="HY견고딕" panose="02030600000101010101" pitchFamily="18" charset="-127"/>
              </a:rPr>
              <a:t>벤처기업인증</a:t>
            </a:r>
            <a:endParaRPr lang="ko-KR" altLang="en-US" sz="800" dirty="0">
              <a:latin typeface="+mj-lt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14829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E6347F-F69D-A7B9-6C6F-785D55979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925"/>
            <a:ext cx="12192000" cy="660897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4CAE4AD8-2C15-756C-85E6-70198C016073}"/>
              </a:ext>
            </a:extLst>
          </p:cNvPr>
          <p:cNvSpPr/>
          <p:nvPr/>
        </p:nvSpPr>
        <p:spPr>
          <a:xfrm>
            <a:off x="1117600" y="990414"/>
            <a:ext cx="11074400" cy="5716944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F0FC5DC-66B7-F6F3-C370-1E10149EC328}"/>
              </a:ext>
            </a:extLst>
          </p:cNvPr>
          <p:cNvSpPr/>
          <p:nvPr/>
        </p:nvSpPr>
        <p:spPr>
          <a:xfrm>
            <a:off x="1117600" y="996950"/>
            <a:ext cx="11074400" cy="5716945"/>
          </a:xfrm>
          <a:prstGeom prst="rect">
            <a:avLst/>
          </a:prstGeom>
          <a:solidFill>
            <a:srgbClr val="EDF1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AE5AE67-1D8A-1EA5-37AF-C524807BFCE0}"/>
              </a:ext>
            </a:extLst>
          </p:cNvPr>
          <p:cNvSpPr/>
          <p:nvPr/>
        </p:nvSpPr>
        <p:spPr>
          <a:xfrm>
            <a:off x="1398621" y="1302357"/>
            <a:ext cx="2508070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특허</a:t>
            </a:r>
            <a:r>
              <a:rPr lang="en-US" altLang="ko-KR" dirty="0"/>
              <a:t>/</a:t>
            </a:r>
            <a:r>
              <a:rPr lang="ko-KR" altLang="en-US" dirty="0"/>
              <a:t>상표</a:t>
            </a:r>
            <a:r>
              <a:rPr lang="en-US" altLang="ko-KR" dirty="0"/>
              <a:t>/</a:t>
            </a:r>
            <a:r>
              <a:rPr lang="ko-KR" altLang="en-US" dirty="0"/>
              <a:t>기타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B2B3DDB-D220-C1CC-D920-9E0A62D5D266}"/>
              </a:ext>
            </a:extLst>
          </p:cNvPr>
          <p:cNvSpPr/>
          <p:nvPr/>
        </p:nvSpPr>
        <p:spPr>
          <a:xfrm>
            <a:off x="1398621" y="2032750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CF08B6D-179E-0CB1-A1E6-157FBC7DE9B2}"/>
              </a:ext>
            </a:extLst>
          </p:cNvPr>
          <p:cNvSpPr/>
          <p:nvPr/>
        </p:nvSpPr>
        <p:spPr>
          <a:xfrm>
            <a:off x="1889576" y="2489763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1A08CE-E175-8BF9-2679-24CE1421BBC5}"/>
              </a:ext>
            </a:extLst>
          </p:cNvPr>
          <p:cNvSpPr txBox="1"/>
          <p:nvPr/>
        </p:nvSpPr>
        <p:spPr>
          <a:xfrm>
            <a:off x="2073349" y="2191409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특허권 신청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796562D-5BDC-3ADA-5EE3-D9E60B4E1A68}"/>
              </a:ext>
            </a:extLst>
          </p:cNvPr>
          <p:cNvSpPr/>
          <p:nvPr/>
        </p:nvSpPr>
        <p:spPr>
          <a:xfrm>
            <a:off x="3835991" y="2046256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B1B1967-CBE1-C050-B32C-15614177FB9E}"/>
              </a:ext>
            </a:extLst>
          </p:cNvPr>
          <p:cNvSpPr/>
          <p:nvPr/>
        </p:nvSpPr>
        <p:spPr>
          <a:xfrm>
            <a:off x="4326946" y="2503269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0820BA-7E12-D207-4D66-C283682337F4}"/>
              </a:ext>
            </a:extLst>
          </p:cNvPr>
          <p:cNvSpPr txBox="1"/>
          <p:nvPr/>
        </p:nvSpPr>
        <p:spPr>
          <a:xfrm>
            <a:off x="4510719" y="2204915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상표권 신청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54A82DF-46A0-C95B-DAA1-36854626D8DB}"/>
              </a:ext>
            </a:extLst>
          </p:cNvPr>
          <p:cNvSpPr/>
          <p:nvPr/>
        </p:nvSpPr>
        <p:spPr>
          <a:xfrm>
            <a:off x="6289438" y="2048184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5971A62-7D9C-63F3-B91A-FCC1FE7479B4}"/>
              </a:ext>
            </a:extLst>
          </p:cNvPr>
          <p:cNvSpPr/>
          <p:nvPr/>
        </p:nvSpPr>
        <p:spPr>
          <a:xfrm>
            <a:off x="6780393" y="2505197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080C2D-F08A-C696-5B19-98E218C88CD9}"/>
              </a:ext>
            </a:extLst>
          </p:cNvPr>
          <p:cNvSpPr txBox="1"/>
          <p:nvPr/>
        </p:nvSpPr>
        <p:spPr>
          <a:xfrm>
            <a:off x="6964166" y="2206843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기타 신청</a:t>
            </a:r>
          </a:p>
        </p:txBody>
      </p:sp>
    </p:spTree>
    <p:extLst>
      <p:ext uri="{BB962C8B-B14F-4D97-AF65-F5344CB8AC3E}">
        <p14:creationId xmlns:p14="http://schemas.microsoft.com/office/powerpoint/2010/main" val="16797557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E28967-BCBE-7984-2F93-6A54A232F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925"/>
            <a:ext cx="12192000" cy="660897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65934E8F-3EB0-AA74-ECB3-50207775F7BB}"/>
              </a:ext>
            </a:extLst>
          </p:cNvPr>
          <p:cNvSpPr/>
          <p:nvPr/>
        </p:nvSpPr>
        <p:spPr>
          <a:xfrm>
            <a:off x="1117600" y="990414"/>
            <a:ext cx="11074400" cy="5716944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330E93B-E835-3884-3697-28BC0BA14F7E}"/>
              </a:ext>
            </a:extLst>
          </p:cNvPr>
          <p:cNvSpPr/>
          <p:nvPr/>
        </p:nvSpPr>
        <p:spPr>
          <a:xfrm>
            <a:off x="1117600" y="996950"/>
            <a:ext cx="11074400" cy="5716945"/>
          </a:xfrm>
          <a:prstGeom prst="rect">
            <a:avLst/>
          </a:prstGeom>
          <a:solidFill>
            <a:srgbClr val="EDF1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12A1A9A-DD2E-2996-0325-4FE4ED5D8448}"/>
              </a:ext>
            </a:extLst>
          </p:cNvPr>
          <p:cNvSpPr/>
          <p:nvPr/>
        </p:nvSpPr>
        <p:spPr>
          <a:xfrm>
            <a:off x="1398620" y="1308146"/>
            <a:ext cx="2991593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감정평가</a:t>
            </a:r>
            <a:r>
              <a:rPr lang="en-US" altLang="ko-KR" dirty="0"/>
              <a:t>(</a:t>
            </a:r>
            <a:r>
              <a:rPr lang="ko-KR" altLang="en-US" dirty="0"/>
              <a:t>무형</a:t>
            </a:r>
            <a:r>
              <a:rPr lang="en-US" altLang="ko-KR" dirty="0"/>
              <a:t>/</a:t>
            </a:r>
            <a:r>
              <a:rPr lang="ko-KR" altLang="en-US" dirty="0"/>
              <a:t>유형</a:t>
            </a:r>
            <a:r>
              <a:rPr lang="en-US" altLang="ko-KR" dirty="0"/>
              <a:t>/</a:t>
            </a:r>
            <a:r>
              <a:rPr lang="ko-KR" altLang="en-US" dirty="0"/>
              <a:t>주식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FB10AF-6042-CB17-AA9A-E2B7AE0A63DF}"/>
              </a:ext>
            </a:extLst>
          </p:cNvPr>
          <p:cNvSpPr/>
          <p:nvPr/>
        </p:nvSpPr>
        <p:spPr>
          <a:xfrm>
            <a:off x="1398621" y="2032750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4D60148-D575-EC53-6262-86B539E3F7DF}"/>
              </a:ext>
            </a:extLst>
          </p:cNvPr>
          <p:cNvSpPr/>
          <p:nvPr/>
        </p:nvSpPr>
        <p:spPr>
          <a:xfrm>
            <a:off x="1889576" y="2489763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86A12-5968-5AF8-AFD9-4587F900CDF1}"/>
              </a:ext>
            </a:extLst>
          </p:cNvPr>
          <p:cNvSpPr txBox="1"/>
          <p:nvPr/>
        </p:nvSpPr>
        <p:spPr>
          <a:xfrm>
            <a:off x="2073349" y="2191409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주식평가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8186145-C41F-F185-FFE1-FE092047D8A2}"/>
              </a:ext>
            </a:extLst>
          </p:cNvPr>
          <p:cNvSpPr/>
          <p:nvPr/>
        </p:nvSpPr>
        <p:spPr>
          <a:xfrm>
            <a:off x="3715486" y="2034678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1444E02-647F-A6D8-F21A-B1A7E68806DE}"/>
              </a:ext>
            </a:extLst>
          </p:cNvPr>
          <p:cNvSpPr/>
          <p:nvPr/>
        </p:nvSpPr>
        <p:spPr>
          <a:xfrm>
            <a:off x="4206441" y="2491691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181BDE-ADFB-A57B-2005-580EED300D97}"/>
              </a:ext>
            </a:extLst>
          </p:cNvPr>
          <p:cNvSpPr txBox="1"/>
          <p:nvPr/>
        </p:nvSpPr>
        <p:spPr>
          <a:xfrm>
            <a:off x="4390213" y="2217366"/>
            <a:ext cx="8218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>
                <a:latin typeface="+mj-lt"/>
                <a:ea typeface="HY견고딕" panose="02030600000101010101" pitchFamily="18" charset="-127"/>
              </a:rPr>
              <a:t>유형자산평가</a:t>
            </a:r>
            <a:endParaRPr lang="ko-KR" altLang="en-US" sz="800" dirty="0">
              <a:latin typeface="+mj-lt"/>
              <a:ea typeface="HY견고딕" panose="0203060000010101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C3024A6-1234-F9BF-6517-56CD94350B27}"/>
              </a:ext>
            </a:extLst>
          </p:cNvPr>
          <p:cNvSpPr/>
          <p:nvPr/>
        </p:nvSpPr>
        <p:spPr>
          <a:xfrm>
            <a:off x="6007273" y="2034681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A211515-8730-D9B7-8AB1-C89EDE07CB3C}"/>
              </a:ext>
            </a:extLst>
          </p:cNvPr>
          <p:cNvSpPr/>
          <p:nvPr/>
        </p:nvSpPr>
        <p:spPr>
          <a:xfrm>
            <a:off x="6498228" y="2491694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70AF71-AA67-E32C-8B85-EA34FC190D62}"/>
              </a:ext>
            </a:extLst>
          </p:cNvPr>
          <p:cNvSpPr txBox="1"/>
          <p:nvPr/>
        </p:nvSpPr>
        <p:spPr>
          <a:xfrm>
            <a:off x="6602399" y="2217368"/>
            <a:ext cx="9418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무형자산평가</a:t>
            </a:r>
          </a:p>
        </p:txBody>
      </p:sp>
    </p:spTree>
    <p:extLst>
      <p:ext uri="{BB962C8B-B14F-4D97-AF65-F5344CB8AC3E}">
        <p14:creationId xmlns:p14="http://schemas.microsoft.com/office/powerpoint/2010/main" val="41938423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6FE710-7376-0699-311D-7048CC01E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925"/>
            <a:ext cx="12192000" cy="660897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60FB95A8-9F04-4B0B-21A8-FF459ABBD403}"/>
              </a:ext>
            </a:extLst>
          </p:cNvPr>
          <p:cNvSpPr/>
          <p:nvPr/>
        </p:nvSpPr>
        <p:spPr>
          <a:xfrm>
            <a:off x="1117600" y="990414"/>
            <a:ext cx="11074400" cy="5716944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2149A00-BCD1-BFC4-5A6A-91E9E0FFF716}"/>
              </a:ext>
            </a:extLst>
          </p:cNvPr>
          <p:cNvSpPr/>
          <p:nvPr/>
        </p:nvSpPr>
        <p:spPr>
          <a:xfrm>
            <a:off x="1117600" y="996950"/>
            <a:ext cx="11074400" cy="5716945"/>
          </a:xfrm>
          <a:prstGeom prst="rect">
            <a:avLst/>
          </a:prstGeom>
          <a:solidFill>
            <a:srgbClr val="EDF1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DCE32A3-6799-DC1D-8629-DE74FB3B7F2C}"/>
              </a:ext>
            </a:extLst>
          </p:cNvPr>
          <p:cNvSpPr/>
          <p:nvPr/>
        </p:nvSpPr>
        <p:spPr>
          <a:xfrm>
            <a:off x="1398621" y="1309110"/>
            <a:ext cx="2508070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법무</a:t>
            </a:r>
            <a:r>
              <a:rPr lang="en-US" altLang="ko-KR" dirty="0"/>
              <a:t>(</a:t>
            </a:r>
            <a:r>
              <a:rPr lang="ko-KR" altLang="en-US" dirty="0"/>
              <a:t>등기</a:t>
            </a:r>
            <a:r>
              <a:rPr lang="en-US" altLang="ko-KR" dirty="0"/>
              <a:t>)</a:t>
            </a:r>
            <a:r>
              <a:rPr lang="ko-KR" altLang="en-US" dirty="0"/>
              <a:t>업무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452057D-A07A-E1C2-4375-C25D2193F89D}"/>
              </a:ext>
            </a:extLst>
          </p:cNvPr>
          <p:cNvSpPr/>
          <p:nvPr/>
        </p:nvSpPr>
        <p:spPr>
          <a:xfrm>
            <a:off x="1398621" y="2032750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E812377-3AC9-E6D5-409F-FE73023D52E2}"/>
              </a:ext>
            </a:extLst>
          </p:cNvPr>
          <p:cNvSpPr/>
          <p:nvPr/>
        </p:nvSpPr>
        <p:spPr>
          <a:xfrm>
            <a:off x="1889576" y="2489763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1E4168-274A-465A-6204-67F08F1F6B22}"/>
              </a:ext>
            </a:extLst>
          </p:cNvPr>
          <p:cNvSpPr txBox="1"/>
          <p:nvPr/>
        </p:nvSpPr>
        <p:spPr>
          <a:xfrm>
            <a:off x="2073349" y="2191409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임원관련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FAA64C2-AD35-E902-D32A-5511690508D0}"/>
              </a:ext>
            </a:extLst>
          </p:cNvPr>
          <p:cNvSpPr/>
          <p:nvPr/>
        </p:nvSpPr>
        <p:spPr>
          <a:xfrm>
            <a:off x="3768792" y="2032750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868BD94-55BB-1DF8-FC2C-A0632DE1D974}"/>
              </a:ext>
            </a:extLst>
          </p:cNvPr>
          <p:cNvSpPr/>
          <p:nvPr/>
        </p:nvSpPr>
        <p:spPr>
          <a:xfrm>
            <a:off x="4259747" y="2489763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1505F6-0B5B-D7E9-CF65-A11A09044E2E}"/>
              </a:ext>
            </a:extLst>
          </p:cNvPr>
          <p:cNvSpPr txBox="1"/>
          <p:nvPr/>
        </p:nvSpPr>
        <p:spPr>
          <a:xfrm>
            <a:off x="4443520" y="2191409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자본금관련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39D6F05-1DE9-696D-9C53-B0521A561B74}"/>
              </a:ext>
            </a:extLst>
          </p:cNvPr>
          <p:cNvSpPr/>
          <p:nvPr/>
        </p:nvSpPr>
        <p:spPr>
          <a:xfrm>
            <a:off x="6138963" y="2032750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4A28ADB-357E-FBC2-2B8D-E995C0A1DD88}"/>
              </a:ext>
            </a:extLst>
          </p:cNvPr>
          <p:cNvSpPr/>
          <p:nvPr/>
        </p:nvSpPr>
        <p:spPr>
          <a:xfrm>
            <a:off x="6629918" y="2489763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37972A-9143-AA35-CFC5-73AEF7F25476}"/>
              </a:ext>
            </a:extLst>
          </p:cNvPr>
          <p:cNvSpPr txBox="1"/>
          <p:nvPr/>
        </p:nvSpPr>
        <p:spPr>
          <a:xfrm>
            <a:off x="6765143" y="2191409"/>
            <a:ext cx="8367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>
                <a:latin typeface="+mj-lt"/>
                <a:ea typeface="HY견고딕" panose="02030600000101010101" pitchFamily="18" charset="-127"/>
              </a:rPr>
              <a:t>정기주주총회</a:t>
            </a:r>
            <a:endParaRPr lang="ko-KR" altLang="en-US" sz="800" dirty="0">
              <a:latin typeface="+mj-lt"/>
              <a:ea typeface="HY견고딕" panose="0203060000010101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BF0560F-EE39-58A4-17FA-A928155299BB}"/>
              </a:ext>
            </a:extLst>
          </p:cNvPr>
          <p:cNvSpPr/>
          <p:nvPr/>
        </p:nvSpPr>
        <p:spPr>
          <a:xfrm>
            <a:off x="8509134" y="2032750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E960FE1-4693-8F0D-A6DC-4109DA46DB3E}"/>
              </a:ext>
            </a:extLst>
          </p:cNvPr>
          <p:cNvSpPr/>
          <p:nvPr/>
        </p:nvSpPr>
        <p:spPr>
          <a:xfrm>
            <a:off x="9000089" y="2489763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70FE41-85C3-A348-C741-5DFCDAEACD48}"/>
              </a:ext>
            </a:extLst>
          </p:cNvPr>
          <p:cNvSpPr txBox="1"/>
          <p:nvPr/>
        </p:nvSpPr>
        <p:spPr>
          <a:xfrm>
            <a:off x="9183862" y="2191409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기타</a:t>
            </a:r>
          </a:p>
        </p:txBody>
      </p:sp>
    </p:spTree>
    <p:extLst>
      <p:ext uri="{BB962C8B-B14F-4D97-AF65-F5344CB8AC3E}">
        <p14:creationId xmlns:p14="http://schemas.microsoft.com/office/powerpoint/2010/main" val="28938087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C87F75-A251-2301-4A83-220CDDB60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925"/>
            <a:ext cx="12192000" cy="660897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56E34DD0-2C13-7975-511D-45CFBA35ED16}"/>
              </a:ext>
            </a:extLst>
          </p:cNvPr>
          <p:cNvSpPr/>
          <p:nvPr/>
        </p:nvSpPr>
        <p:spPr>
          <a:xfrm>
            <a:off x="1117600" y="990414"/>
            <a:ext cx="11074400" cy="5716944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27D2261-9AB5-522F-FF42-DA7C63A36E3C}"/>
              </a:ext>
            </a:extLst>
          </p:cNvPr>
          <p:cNvSpPr/>
          <p:nvPr/>
        </p:nvSpPr>
        <p:spPr>
          <a:xfrm>
            <a:off x="1117600" y="996950"/>
            <a:ext cx="11074400" cy="5716945"/>
          </a:xfrm>
          <a:prstGeom prst="rect">
            <a:avLst/>
          </a:prstGeom>
          <a:solidFill>
            <a:srgbClr val="EDF1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BD823EE-2A72-7208-8040-331B5BFB967E}"/>
              </a:ext>
            </a:extLst>
          </p:cNvPr>
          <p:cNvSpPr/>
          <p:nvPr/>
        </p:nvSpPr>
        <p:spPr>
          <a:xfrm>
            <a:off x="1398621" y="1309110"/>
            <a:ext cx="2508070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주주총회</a:t>
            </a:r>
            <a:r>
              <a:rPr lang="en-US" altLang="ko-KR" dirty="0"/>
              <a:t>(</a:t>
            </a:r>
            <a:r>
              <a:rPr lang="ko-KR" altLang="en-US" dirty="0"/>
              <a:t>정기</a:t>
            </a:r>
            <a:r>
              <a:rPr lang="en-US" altLang="ko-KR" dirty="0"/>
              <a:t>/</a:t>
            </a:r>
            <a:r>
              <a:rPr lang="ko-KR" altLang="en-US" dirty="0"/>
              <a:t>임시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6FE7A3E-7A85-355C-9C25-9913EA037725}"/>
              </a:ext>
            </a:extLst>
          </p:cNvPr>
          <p:cNvSpPr/>
          <p:nvPr/>
        </p:nvSpPr>
        <p:spPr>
          <a:xfrm>
            <a:off x="1398621" y="2246110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4C54381-64A4-6448-C852-5CC4573B9C7B}"/>
              </a:ext>
            </a:extLst>
          </p:cNvPr>
          <p:cNvSpPr/>
          <p:nvPr/>
        </p:nvSpPr>
        <p:spPr>
          <a:xfrm>
            <a:off x="1889576" y="2703123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D983AD-AF06-CD5C-F474-8C48227CF5F1}"/>
              </a:ext>
            </a:extLst>
          </p:cNvPr>
          <p:cNvSpPr txBox="1"/>
          <p:nvPr/>
        </p:nvSpPr>
        <p:spPr>
          <a:xfrm>
            <a:off x="1981909" y="2404769"/>
            <a:ext cx="937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>
                <a:latin typeface="+mj-lt"/>
                <a:ea typeface="HY견고딕" panose="02030600000101010101" pitchFamily="18" charset="-127"/>
              </a:rPr>
              <a:t>정기주주총회</a:t>
            </a:r>
            <a:endParaRPr lang="ko-KR" altLang="en-US" sz="800" dirty="0">
              <a:latin typeface="+mj-lt"/>
              <a:ea typeface="HY견고딕" panose="0203060000010101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EFE5A55-F548-F18A-B1BC-8C714DE788AB}"/>
              </a:ext>
            </a:extLst>
          </p:cNvPr>
          <p:cNvSpPr/>
          <p:nvPr/>
        </p:nvSpPr>
        <p:spPr>
          <a:xfrm>
            <a:off x="1398621" y="4482108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73EA2FE-C008-0508-475F-59E79F5B9238}"/>
              </a:ext>
            </a:extLst>
          </p:cNvPr>
          <p:cNvSpPr/>
          <p:nvPr/>
        </p:nvSpPr>
        <p:spPr>
          <a:xfrm>
            <a:off x="1889576" y="4939121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1CDDD5-D8EC-BE47-C59B-8A33DAF3D5D1}"/>
              </a:ext>
            </a:extLst>
          </p:cNvPr>
          <p:cNvSpPr txBox="1"/>
          <p:nvPr/>
        </p:nvSpPr>
        <p:spPr>
          <a:xfrm>
            <a:off x="2073349" y="4640767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중간배당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034F864-9BDD-4EBD-80FE-710D5859E294}"/>
              </a:ext>
            </a:extLst>
          </p:cNvPr>
          <p:cNvSpPr/>
          <p:nvPr/>
        </p:nvSpPr>
        <p:spPr>
          <a:xfrm>
            <a:off x="3803016" y="4482108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E706017-D1CC-3359-DE1A-8659172F95B4}"/>
              </a:ext>
            </a:extLst>
          </p:cNvPr>
          <p:cNvSpPr/>
          <p:nvPr/>
        </p:nvSpPr>
        <p:spPr>
          <a:xfrm>
            <a:off x="4293971" y="4939121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56B8D2-86C6-85E6-0733-C6736DF960DD}"/>
              </a:ext>
            </a:extLst>
          </p:cNvPr>
          <p:cNvSpPr txBox="1"/>
          <p:nvPr/>
        </p:nvSpPr>
        <p:spPr>
          <a:xfrm>
            <a:off x="4477744" y="4640767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임원보수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84254AE-4E18-5F1D-4C14-465DF22278B7}"/>
              </a:ext>
            </a:extLst>
          </p:cNvPr>
          <p:cNvSpPr/>
          <p:nvPr/>
        </p:nvSpPr>
        <p:spPr>
          <a:xfrm>
            <a:off x="6207411" y="4488527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0F844E1-C5D2-10FC-EF06-BD418BE53E69}"/>
              </a:ext>
            </a:extLst>
          </p:cNvPr>
          <p:cNvSpPr/>
          <p:nvPr/>
        </p:nvSpPr>
        <p:spPr>
          <a:xfrm>
            <a:off x="6698366" y="4945540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3BB78D-E7C7-8253-7EF0-6CD3FFCA85EF}"/>
              </a:ext>
            </a:extLst>
          </p:cNvPr>
          <p:cNvSpPr txBox="1"/>
          <p:nvPr/>
        </p:nvSpPr>
        <p:spPr>
          <a:xfrm>
            <a:off x="6882139" y="4647186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자본금 관련</a:t>
            </a:r>
          </a:p>
        </p:txBody>
      </p:sp>
      <p:sp>
        <p:nvSpPr>
          <p:cNvPr id="19" name="화살표: 갈매기형 수장 18">
            <a:extLst>
              <a:ext uri="{FF2B5EF4-FFF2-40B4-BE49-F238E27FC236}">
                <a16:creationId xmlns:a16="http://schemas.microsoft.com/office/drawing/2014/main" id="{54F3B777-5CC2-DF74-A610-0B958C571807}"/>
              </a:ext>
            </a:extLst>
          </p:cNvPr>
          <p:cNvSpPr/>
          <p:nvPr/>
        </p:nvSpPr>
        <p:spPr>
          <a:xfrm>
            <a:off x="1398621" y="1950720"/>
            <a:ext cx="186339" cy="182880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AEC321-93A2-167C-6FC5-37A52EAB42AF}"/>
              </a:ext>
            </a:extLst>
          </p:cNvPr>
          <p:cNvSpPr txBox="1"/>
          <p:nvPr/>
        </p:nvSpPr>
        <p:spPr>
          <a:xfrm>
            <a:off x="1584960" y="1879249"/>
            <a:ext cx="162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정기주주총회</a:t>
            </a:r>
          </a:p>
        </p:txBody>
      </p:sp>
      <p:sp>
        <p:nvSpPr>
          <p:cNvPr id="21" name="화살표: 갈매기형 수장 20">
            <a:extLst>
              <a:ext uri="{FF2B5EF4-FFF2-40B4-BE49-F238E27FC236}">
                <a16:creationId xmlns:a16="http://schemas.microsoft.com/office/drawing/2014/main" id="{843DA932-2053-0F53-BCD7-26E2FAF28ACF}"/>
              </a:ext>
            </a:extLst>
          </p:cNvPr>
          <p:cNvSpPr/>
          <p:nvPr/>
        </p:nvSpPr>
        <p:spPr>
          <a:xfrm>
            <a:off x="1388461" y="4135120"/>
            <a:ext cx="186339" cy="182880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B5F99F-D8FB-F1C2-A690-A1B1DABFF1DB}"/>
              </a:ext>
            </a:extLst>
          </p:cNvPr>
          <p:cNvSpPr txBox="1"/>
          <p:nvPr/>
        </p:nvSpPr>
        <p:spPr>
          <a:xfrm>
            <a:off x="1574800" y="4063649"/>
            <a:ext cx="162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임시주주총회</a:t>
            </a:r>
          </a:p>
        </p:txBody>
      </p:sp>
    </p:spTree>
    <p:extLst>
      <p:ext uri="{BB962C8B-B14F-4D97-AF65-F5344CB8AC3E}">
        <p14:creationId xmlns:p14="http://schemas.microsoft.com/office/powerpoint/2010/main" val="37101900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BFFFD5-432E-4A41-F4FC-F6C89E48F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925"/>
            <a:ext cx="12192000" cy="660897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F13E927D-6DD0-718E-13B7-6B5DF7545ED2}"/>
              </a:ext>
            </a:extLst>
          </p:cNvPr>
          <p:cNvSpPr/>
          <p:nvPr/>
        </p:nvSpPr>
        <p:spPr>
          <a:xfrm>
            <a:off x="1117600" y="990414"/>
            <a:ext cx="11074400" cy="5716944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BCE344-5DA6-EFCE-DC80-83E399889745}"/>
              </a:ext>
            </a:extLst>
          </p:cNvPr>
          <p:cNvSpPr/>
          <p:nvPr/>
        </p:nvSpPr>
        <p:spPr>
          <a:xfrm>
            <a:off x="1117600" y="996950"/>
            <a:ext cx="11074400" cy="5716945"/>
          </a:xfrm>
          <a:prstGeom prst="rect">
            <a:avLst/>
          </a:prstGeom>
          <a:solidFill>
            <a:srgbClr val="EDF1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0EB3CB8-01F4-ADDE-1A90-C6A6D91871D6}"/>
              </a:ext>
            </a:extLst>
          </p:cNvPr>
          <p:cNvSpPr/>
          <p:nvPr/>
        </p:nvSpPr>
        <p:spPr>
          <a:xfrm>
            <a:off x="1398621" y="1187024"/>
            <a:ext cx="2508070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절세</a:t>
            </a:r>
            <a:r>
              <a:rPr lang="en-US" altLang="ko-KR" dirty="0"/>
              <a:t>(</a:t>
            </a:r>
            <a:r>
              <a:rPr lang="ko-KR" altLang="en-US" dirty="0"/>
              <a:t>개인</a:t>
            </a:r>
            <a:r>
              <a:rPr lang="en-US" altLang="ko-KR" dirty="0"/>
              <a:t>/</a:t>
            </a:r>
            <a:r>
              <a:rPr lang="ko-KR" altLang="en-US" dirty="0"/>
              <a:t>법인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FC81E20-E279-990F-444E-C7026908AAFA}"/>
              </a:ext>
            </a:extLst>
          </p:cNvPr>
          <p:cNvSpPr/>
          <p:nvPr/>
        </p:nvSpPr>
        <p:spPr>
          <a:xfrm>
            <a:off x="1398621" y="2276590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C690184-E3B1-9B60-2587-D47CBEDD68A5}"/>
              </a:ext>
            </a:extLst>
          </p:cNvPr>
          <p:cNvSpPr/>
          <p:nvPr/>
        </p:nvSpPr>
        <p:spPr>
          <a:xfrm>
            <a:off x="1889576" y="2733603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4F17E7-1633-5672-8159-45C5511503CA}"/>
              </a:ext>
            </a:extLst>
          </p:cNvPr>
          <p:cNvSpPr txBox="1"/>
          <p:nvPr/>
        </p:nvSpPr>
        <p:spPr>
          <a:xfrm>
            <a:off x="2073349" y="2435249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소득공제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FDDEAB5-6750-F658-2EDB-4074A2F5E0C7}"/>
              </a:ext>
            </a:extLst>
          </p:cNvPr>
          <p:cNvSpPr/>
          <p:nvPr/>
        </p:nvSpPr>
        <p:spPr>
          <a:xfrm>
            <a:off x="3768792" y="2276590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FCB884D-D4E2-9582-0137-0FE638995D08}"/>
              </a:ext>
            </a:extLst>
          </p:cNvPr>
          <p:cNvSpPr/>
          <p:nvPr/>
        </p:nvSpPr>
        <p:spPr>
          <a:xfrm>
            <a:off x="4259747" y="2733603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03EA0D-ED97-B39B-896D-C73A8F717DB0}"/>
              </a:ext>
            </a:extLst>
          </p:cNvPr>
          <p:cNvSpPr txBox="1"/>
          <p:nvPr/>
        </p:nvSpPr>
        <p:spPr>
          <a:xfrm>
            <a:off x="4443520" y="2435249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세액공제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B5C6671-A800-9039-30BC-32D8E1D73AA6}"/>
              </a:ext>
            </a:extLst>
          </p:cNvPr>
          <p:cNvSpPr/>
          <p:nvPr/>
        </p:nvSpPr>
        <p:spPr>
          <a:xfrm>
            <a:off x="6138963" y="2276590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4DB84D9-2BE4-A9BF-ADF2-C22A5C52551F}"/>
              </a:ext>
            </a:extLst>
          </p:cNvPr>
          <p:cNvSpPr/>
          <p:nvPr/>
        </p:nvSpPr>
        <p:spPr>
          <a:xfrm>
            <a:off x="6629918" y="2733603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CEFB29-A14D-2278-06C3-CD4382694F3C}"/>
              </a:ext>
            </a:extLst>
          </p:cNvPr>
          <p:cNvSpPr txBox="1"/>
          <p:nvPr/>
        </p:nvSpPr>
        <p:spPr>
          <a:xfrm>
            <a:off x="6813691" y="2435249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환급신청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13406D9-E687-07EF-E575-44AB339564AB}"/>
              </a:ext>
            </a:extLst>
          </p:cNvPr>
          <p:cNvSpPr/>
          <p:nvPr/>
        </p:nvSpPr>
        <p:spPr>
          <a:xfrm>
            <a:off x="1398621" y="4577040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53AEF91-18EF-01D0-4F86-008967DCF6A4}"/>
              </a:ext>
            </a:extLst>
          </p:cNvPr>
          <p:cNvSpPr/>
          <p:nvPr/>
        </p:nvSpPr>
        <p:spPr>
          <a:xfrm>
            <a:off x="1889576" y="5034053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C170EE-86EF-D5B1-9A53-D624CF40E554}"/>
              </a:ext>
            </a:extLst>
          </p:cNvPr>
          <p:cNvSpPr txBox="1"/>
          <p:nvPr/>
        </p:nvSpPr>
        <p:spPr>
          <a:xfrm>
            <a:off x="2073349" y="4735699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세액공제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1C15D7E-EB60-10EC-4DD3-DF06F55B748F}"/>
              </a:ext>
            </a:extLst>
          </p:cNvPr>
          <p:cNvSpPr/>
          <p:nvPr/>
        </p:nvSpPr>
        <p:spPr>
          <a:xfrm>
            <a:off x="3768792" y="4577040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5D5682F-9EFA-B5BB-3199-F7BCEA2D0536}"/>
              </a:ext>
            </a:extLst>
          </p:cNvPr>
          <p:cNvSpPr/>
          <p:nvPr/>
        </p:nvSpPr>
        <p:spPr>
          <a:xfrm>
            <a:off x="4259747" y="5034053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C88D10-3AB9-14AB-E908-5C60793DC9F6}"/>
              </a:ext>
            </a:extLst>
          </p:cNvPr>
          <p:cNvSpPr txBox="1"/>
          <p:nvPr/>
        </p:nvSpPr>
        <p:spPr>
          <a:xfrm>
            <a:off x="4443520" y="4735699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비용처리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4E24282-0DA0-25C2-D02E-FE98EEF3ED03}"/>
              </a:ext>
            </a:extLst>
          </p:cNvPr>
          <p:cNvSpPr/>
          <p:nvPr/>
        </p:nvSpPr>
        <p:spPr>
          <a:xfrm>
            <a:off x="6138963" y="4562644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1D14B1A-606C-9F73-9B17-8B0308BBF162}"/>
              </a:ext>
            </a:extLst>
          </p:cNvPr>
          <p:cNvSpPr/>
          <p:nvPr/>
        </p:nvSpPr>
        <p:spPr>
          <a:xfrm>
            <a:off x="6629918" y="5019657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F6904F-9487-FFD4-D0C3-7E99D0E89887}"/>
              </a:ext>
            </a:extLst>
          </p:cNvPr>
          <p:cNvSpPr txBox="1"/>
          <p:nvPr/>
        </p:nvSpPr>
        <p:spPr>
          <a:xfrm>
            <a:off x="6813691" y="4721303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환급신청</a:t>
            </a:r>
          </a:p>
        </p:txBody>
      </p:sp>
      <p:sp>
        <p:nvSpPr>
          <p:cNvPr id="25" name="화살표: 갈매기형 수장 24">
            <a:extLst>
              <a:ext uri="{FF2B5EF4-FFF2-40B4-BE49-F238E27FC236}">
                <a16:creationId xmlns:a16="http://schemas.microsoft.com/office/drawing/2014/main" id="{A6D56A4A-CE91-4E11-3ABD-9D16F97F2890}"/>
              </a:ext>
            </a:extLst>
          </p:cNvPr>
          <p:cNvSpPr/>
          <p:nvPr/>
        </p:nvSpPr>
        <p:spPr>
          <a:xfrm>
            <a:off x="1398621" y="1930400"/>
            <a:ext cx="186339" cy="182880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5510BF-29D1-2FBA-2D75-D5240979EE46}"/>
              </a:ext>
            </a:extLst>
          </p:cNvPr>
          <p:cNvSpPr txBox="1"/>
          <p:nvPr/>
        </p:nvSpPr>
        <p:spPr>
          <a:xfrm>
            <a:off x="1584959" y="1879249"/>
            <a:ext cx="1902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개인</a:t>
            </a:r>
            <a:r>
              <a:rPr lang="en-US" altLang="ko-KR" dirty="0"/>
              <a:t>/</a:t>
            </a:r>
            <a:r>
              <a:rPr lang="ko-KR" altLang="en-US" dirty="0"/>
              <a:t>개인사업자</a:t>
            </a:r>
          </a:p>
        </p:txBody>
      </p:sp>
      <p:sp>
        <p:nvSpPr>
          <p:cNvPr id="27" name="화살표: 갈매기형 수장 26">
            <a:extLst>
              <a:ext uri="{FF2B5EF4-FFF2-40B4-BE49-F238E27FC236}">
                <a16:creationId xmlns:a16="http://schemas.microsoft.com/office/drawing/2014/main" id="{B1B5264C-D9A7-E51D-C2A0-2FE7BCE467EF}"/>
              </a:ext>
            </a:extLst>
          </p:cNvPr>
          <p:cNvSpPr/>
          <p:nvPr/>
        </p:nvSpPr>
        <p:spPr>
          <a:xfrm>
            <a:off x="1398621" y="4175760"/>
            <a:ext cx="186339" cy="182880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279085-696B-3078-7EAD-B6A45D9C7DDD}"/>
              </a:ext>
            </a:extLst>
          </p:cNvPr>
          <p:cNvSpPr txBox="1"/>
          <p:nvPr/>
        </p:nvSpPr>
        <p:spPr>
          <a:xfrm>
            <a:off x="1584959" y="4124609"/>
            <a:ext cx="1902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법인사업자</a:t>
            </a:r>
          </a:p>
        </p:txBody>
      </p:sp>
    </p:spTree>
    <p:extLst>
      <p:ext uri="{BB962C8B-B14F-4D97-AF65-F5344CB8AC3E}">
        <p14:creationId xmlns:p14="http://schemas.microsoft.com/office/powerpoint/2010/main" val="25213351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10FDA1F-AC94-0A2A-30FB-E4379258B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925"/>
            <a:ext cx="12192000" cy="660897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87E4114-AEE0-23F4-9108-FF47315F209E}"/>
              </a:ext>
            </a:extLst>
          </p:cNvPr>
          <p:cNvSpPr/>
          <p:nvPr/>
        </p:nvSpPr>
        <p:spPr>
          <a:xfrm>
            <a:off x="1117600" y="990414"/>
            <a:ext cx="11074400" cy="5716944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CCF2EF3-6963-8547-BEA9-A7A3E7236332}"/>
              </a:ext>
            </a:extLst>
          </p:cNvPr>
          <p:cNvSpPr/>
          <p:nvPr/>
        </p:nvSpPr>
        <p:spPr>
          <a:xfrm>
            <a:off x="1117600" y="996950"/>
            <a:ext cx="11074400" cy="5716945"/>
          </a:xfrm>
          <a:prstGeom prst="rect">
            <a:avLst/>
          </a:prstGeom>
          <a:solidFill>
            <a:srgbClr val="EDF1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24BDA9-B179-F26E-F408-680C050334AA}"/>
              </a:ext>
            </a:extLst>
          </p:cNvPr>
          <p:cNvSpPr/>
          <p:nvPr/>
        </p:nvSpPr>
        <p:spPr>
          <a:xfrm>
            <a:off x="1398621" y="1246407"/>
            <a:ext cx="2508070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고용지원금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A7EC2DF-65EB-4A28-8717-3E8B710AA06D}"/>
              </a:ext>
            </a:extLst>
          </p:cNvPr>
          <p:cNvSpPr/>
          <p:nvPr/>
        </p:nvSpPr>
        <p:spPr>
          <a:xfrm>
            <a:off x="1398621" y="2032750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EF13FC2-B507-9AE8-4DE5-3992273916E8}"/>
              </a:ext>
            </a:extLst>
          </p:cNvPr>
          <p:cNvSpPr/>
          <p:nvPr/>
        </p:nvSpPr>
        <p:spPr>
          <a:xfrm>
            <a:off x="1889576" y="2489763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760EA3-A977-7E9A-FE6D-F5573ED6A8D3}"/>
              </a:ext>
            </a:extLst>
          </p:cNvPr>
          <p:cNvSpPr txBox="1"/>
          <p:nvPr/>
        </p:nvSpPr>
        <p:spPr>
          <a:xfrm>
            <a:off x="2073349" y="2191409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신규고용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773A11E-3078-E9BE-B680-AE91651300B7}"/>
              </a:ext>
            </a:extLst>
          </p:cNvPr>
          <p:cNvSpPr/>
          <p:nvPr/>
        </p:nvSpPr>
        <p:spPr>
          <a:xfrm>
            <a:off x="3776076" y="2032750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BBD8509-A3DA-78F3-E3D9-9B0B18810E2B}"/>
              </a:ext>
            </a:extLst>
          </p:cNvPr>
          <p:cNvSpPr/>
          <p:nvPr/>
        </p:nvSpPr>
        <p:spPr>
          <a:xfrm>
            <a:off x="4267031" y="2489763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531107-B887-FA74-8360-0732B1C278BE}"/>
              </a:ext>
            </a:extLst>
          </p:cNvPr>
          <p:cNvSpPr txBox="1"/>
          <p:nvPr/>
        </p:nvSpPr>
        <p:spPr>
          <a:xfrm>
            <a:off x="4450804" y="2191409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 err="1">
                <a:latin typeface="+mj-lt"/>
                <a:ea typeface="HY견고딕" panose="02030600000101010101" pitchFamily="18" charset="-127"/>
              </a:rPr>
              <a:t>워라벨</a:t>
            </a:r>
            <a:endParaRPr lang="ko-KR" altLang="en-US" sz="800" dirty="0">
              <a:latin typeface="+mj-lt"/>
              <a:ea typeface="HY견고딕" panose="0203060000010101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9542F73-E575-DCCC-D7BF-86F306B017FF}"/>
              </a:ext>
            </a:extLst>
          </p:cNvPr>
          <p:cNvSpPr/>
          <p:nvPr/>
        </p:nvSpPr>
        <p:spPr>
          <a:xfrm>
            <a:off x="6153531" y="2032750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79507F8-F2E8-2664-23F7-8A8B46C5C0B2}"/>
              </a:ext>
            </a:extLst>
          </p:cNvPr>
          <p:cNvSpPr/>
          <p:nvPr/>
        </p:nvSpPr>
        <p:spPr>
          <a:xfrm>
            <a:off x="6644486" y="2489763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EB610E-4FC3-ED02-B395-6398D8B8A1DF}"/>
              </a:ext>
            </a:extLst>
          </p:cNvPr>
          <p:cNvSpPr txBox="1"/>
          <p:nvPr/>
        </p:nvSpPr>
        <p:spPr>
          <a:xfrm>
            <a:off x="6828259" y="2191409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정규직전환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409ABC3-3690-B412-E932-64426EEB12F4}"/>
              </a:ext>
            </a:extLst>
          </p:cNvPr>
          <p:cNvSpPr/>
          <p:nvPr/>
        </p:nvSpPr>
        <p:spPr>
          <a:xfrm>
            <a:off x="8530986" y="2008919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3914590-64CA-AAE9-4B75-52B8E1F9B72E}"/>
              </a:ext>
            </a:extLst>
          </p:cNvPr>
          <p:cNvSpPr/>
          <p:nvPr/>
        </p:nvSpPr>
        <p:spPr>
          <a:xfrm>
            <a:off x="9021941" y="2465932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1F4E3C-0A91-7C2C-FA30-2A96D128AB1F}"/>
              </a:ext>
            </a:extLst>
          </p:cNvPr>
          <p:cNvSpPr txBox="1"/>
          <p:nvPr/>
        </p:nvSpPr>
        <p:spPr>
          <a:xfrm>
            <a:off x="9205714" y="2167578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두리누리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148906-F95C-A681-5016-001AE9D92129}"/>
              </a:ext>
            </a:extLst>
          </p:cNvPr>
          <p:cNvSpPr/>
          <p:nvPr/>
        </p:nvSpPr>
        <p:spPr>
          <a:xfrm>
            <a:off x="1398621" y="4010941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E683823-B4CD-FC54-10F7-2F0245908EB1}"/>
              </a:ext>
            </a:extLst>
          </p:cNvPr>
          <p:cNvSpPr/>
          <p:nvPr/>
        </p:nvSpPr>
        <p:spPr>
          <a:xfrm>
            <a:off x="1889576" y="4467954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FDF531-2F05-E36F-0ED2-305711763477}"/>
              </a:ext>
            </a:extLst>
          </p:cNvPr>
          <p:cNvSpPr txBox="1"/>
          <p:nvPr/>
        </p:nvSpPr>
        <p:spPr>
          <a:xfrm>
            <a:off x="2073349" y="4169600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고용유지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5D8CF38-60D1-E8ED-79B4-680C67BC4E31}"/>
              </a:ext>
            </a:extLst>
          </p:cNvPr>
          <p:cNvSpPr/>
          <p:nvPr/>
        </p:nvSpPr>
        <p:spPr>
          <a:xfrm>
            <a:off x="3768792" y="4010941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ECBBB17-B951-5123-FB65-1C6486A57F5C}"/>
              </a:ext>
            </a:extLst>
          </p:cNvPr>
          <p:cNvSpPr/>
          <p:nvPr/>
        </p:nvSpPr>
        <p:spPr>
          <a:xfrm>
            <a:off x="4259747" y="4467954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712EBB-5BD3-D620-D8FE-C22B455B9F2E}"/>
              </a:ext>
            </a:extLst>
          </p:cNvPr>
          <p:cNvSpPr txBox="1"/>
          <p:nvPr/>
        </p:nvSpPr>
        <p:spPr>
          <a:xfrm>
            <a:off x="4443520" y="4169600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중장년층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D66D2FE-8E23-1906-CAED-B0572C40AE67}"/>
              </a:ext>
            </a:extLst>
          </p:cNvPr>
          <p:cNvSpPr/>
          <p:nvPr/>
        </p:nvSpPr>
        <p:spPr>
          <a:xfrm>
            <a:off x="6138963" y="4011067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9A407CF-6298-80C5-28D2-A38D2366BD2E}"/>
              </a:ext>
            </a:extLst>
          </p:cNvPr>
          <p:cNvSpPr/>
          <p:nvPr/>
        </p:nvSpPr>
        <p:spPr>
          <a:xfrm>
            <a:off x="6629918" y="4468080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E551BB-4B7C-6F94-504E-410264D15E28}"/>
              </a:ext>
            </a:extLst>
          </p:cNvPr>
          <p:cNvSpPr txBox="1"/>
          <p:nvPr/>
        </p:nvSpPr>
        <p:spPr>
          <a:xfrm>
            <a:off x="6813691" y="4169726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취약계층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9098376-38EF-9A33-9619-7D0B5E3BFD01}"/>
              </a:ext>
            </a:extLst>
          </p:cNvPr>
          <p:cNvSpPr/>
          <p:nvPr/>
        </p:nvSpPr>
        <p:spPr>
          <a:xfrm>
            <a:off x="8530986" y="4010941"/>
            <a:ext cx="2089150" cy="1658801"/>
          </a:xfrm>
          <a:prstGeom prst="rect">
            <a:avLst/>
          </a:prstGeom>
          <a:solidFill>
            <a:schemeClr val="bg1"/>
          </a:solidFill>
          <a:ln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9D9CF4A-F7CD-10BB-0D4F-49AF28997709}"/>
              </a:ext>
            </a:extLst>
          </p:cNvPr>
          <p:cNvSpPr/>
          <p:nvPr/>
        </p:nvSpPr>
        <p:spPr>
          <a:xfrm>
            <a:off x="9021941" y="4467954"/>
            <a:ext cx="1121229" cy="927463"/>
          </a:xfrm>
          <a:prstGeom prst="roundRect">
            <a:avLst/>
          </a:prstGeom>
          <a:solidFill>
            <a:srgbClr val="1919EF">
              <a:alpha val="7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2B3C87-A822-0A6E-0AB4-07DC813D5AC8}"/>
              </a:ext>
            </a:extLst>
          </p:cNvPr>
          <p:cNvSpPr txBox="1"/>
          <p:nvPr/>
        </p:nvSpPr>
        <p:spPr>
          <a:xfrm>
            <a:off x="9205714" y="4169600"/>
            <a:ext cx="7580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+mj-lt"/>
                <a:ea typeface="HY견고딕" panose="02030600000101010101" pitchFamily="18" charset="-127"/>
              </a:rPr>
              <a:t>기타</a:t>
            </a:r>
          </a:p>
        </p:txBody>
      </p:sp>
    </p:spTree>
    <p:extLst>
      <p:ext uri="{BB962C8B-B14F-4D97-AF65-F5344CB8AC3E}">
        <p14:creationId xmlns:p14="http://schemas.microsoft.com/office/powerpoint/2010/main" val="3656114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1208</TotalTime>
  <Words>530</Words>
  <Application>Microsoft Office PowerPoint</Application>
  <PresentationFormat>와이드스크린</PresentationFormat>
  <Paragraphs>271</Paragraphs>
  <Slides>29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4" baseType="lpstr">
      <vt:lpstr>굴림</vt:lpstr>
      <vt:lpstr>맑은 고딕</vt:lpstr>
      <vt:lpstr>함초롬바탕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지현 박</dc:creator>
  <cp:lastModifiedBy>지현 박</cp:lastModifiedBy>
  <cp:revision>66</cp:revision>
  <dcterms:created xsi:type="dcterms:W3CDTF">2025-12-24T05:37:55Z</dcterms:created>
  <dcterms:modified xsi:type="dcterms:W3CDTF">2026-02-09T06:44:25Z</dcterms:modified>
</cp:coreProperties>
</file>